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project reads depression-symptom severity from clinical interview transcripts — PHQ-8, one symptom at a time. I'll cover three things: what actually drives performance, how robust and clinically usable it is, and four experiments that push the frontier.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is fine-grained: rate all eight PHQ-8 symptoms 0 to 3 from one interview, then sum them to screen at the clinical threshold of 10. Two things to flag: the data is small — 219 participants — and badly imbalanced, only 9.5% of items are severe. That severe tail becomes the recurring theme of the talk. Three ingredients power everything: a MentalBERT encoder with a rank-consistent ordinal head, hybrid retrieval for evidence, and a frozen large language model doing chain-of-thought with no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results, here's how the two core models work — and they share a front-end. Every strategy starts the same way: the interview is chopped into context windows and an item-aware hybrid retriever pulls the most relevant ones for each PHQ-8 symptom. From there it splits. Strategy A, in green, feeds the item and its evidence into MentalBERT and a CORN ordinal head that's trained end-to-end. Strategy B, in violet, hands the same evidence to a frozen Qwen-7B with a few-shot prompt; it reasons in natural language and we take a self-consistency vote. One is trained, one does no training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advanced experiments don't introduce new machinery — they recombine these parts. Refinement 1, attention-MIL, encodes each window separately and learns an attention weight over them, which doubles as an explanation of which window drove the score. Refinement 2 reranks the full pool of transcript windows with a cross-encoder before they ever reach the model. Refinement 3 takes the encoder's and CoT's probabilities, calibrates them, and combines them conditionally. Keep this picture in mind for Part 3 and Part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lever isn't the model — it's the evidence. Holding the model and loss fixed, lexical BM25 windows barely move the needle, but adding semantic hybrid retrieval lifts total-score agreement more than six-fold. The headline of this whole project is: better evidence, not a bigger network. Error bars are across the five folds.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be fooled by 45% accuracy. Because severity is ordinal, what matters is how far off the errors are — and 88% land within one level. The model essentially never confuses minimal with severe. The honest weakness, boxed in amber on the left, is that it under-calls genuinely severe cases — that's the class imbalance showing up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asked why some symptoms are harder than others. Plotting evidence quality against predictability, the correlation is actually slightly negative. 'Moving' looks easy only because one class dominates; 'Sleep' has plenty of on-topic evidence yet stays hard. So part of the difficulty is intrinsic to the symptom, not a retrieval problem — keep that in mind for Part 4, where reranking tries and fails to fix exactly these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interesting scientific result. A frozen language model and the trained encoder reach similar accuracy, but they agree only 45% of the time. Look at the left panel: the encoder wins the middle 'mild' class — it hedges — while the LLM wins both extremes, minimal and severe. Two very different routes to the same overall score, which is exactly the signature of complementary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complementarity concrete — here's the language model explaining its own ratings, in its own words. The top two are severe cases it caught that the encoder rated only mild. The bottom one is an instructive failure: its reasoning is actually sound — it says there's no appetite evidence in the snippets — but that's because the retriever surfaced none. It ties straight back to Part 1: good reasoning can't compensate for missing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combining models, you have to calibrate. The raw probabilities are badly overconfident — calibration error 0.40, cut to 0.08 by one temperature parameter. But here's the punchline on the right: even calibrated, a naive scalar blend still doesn't beat either parent. Only combiners that condition — on the item, or on predicted severity — do. The complementarity is structural, not something a single global weight can capture.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reframe it as a screener. The naive 'sum the argmax predictions, flag if ≥ 10' rule catches only 37% of true cases — useless clinically. But the model's ranking of who is depressed is good: AUC 0.78. So simply moving the decision threshold gets sensitivity up to 86%. The lesson for the deck: report the metric that matches the deployment question, not the default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deployable system doesn't have to answer everything. If it abstains on its least-confident 40% and routes them to a clinician, accuracy on what it does decide climbs from 0.46 to 0.52. And critically — right panel — the cases it defers are disproportionately the ambiguous moderate and severe ones, exactly who a human should review. It knows what it doesn't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only 219 participants, point estimates need error bars. We resample participants two thousand times — a cluster bootstrap — and put a 95% interval on every headline gain. The retrieval gains are unambiguous, well clear of zero. But the CoT macro-F1 edge on its own is not statistically significant. So we say that one carefully. This slide is really about intellectual honesty for a reviewer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targeted experiments, all run on the cluster with identical setup — only one factor changes each time. The near-diagonal of boxed cells is the whole point: there's no single winner. Attention-MIL is best overall, focal loss best on the ordinal metric, and reranking or class-balancing buy back severe-class recall. And note — reranking did not rescue the Sleep and Appetite items from Part 1, confirming that difficulty really is intrinsic.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finally, interpretability — the counterpart to the LLM's words. The MIL attention head tells us which transcript window drove each score. For 'Tired' it put 88% of its weight on exactly the right utterance about low energy. Honestly, for Appetite — a thin-evidence item — it can only grab a loosely related window. So the model points at its evidence when the evidence exists, and visibly struggles on the items we already know are hard.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 five takeaways. One: retrieval is the rock-solid lever, semantic evidence over a bigger model. Two: the model is ordinally sane but severe-blind. Three: the encoder and the LLM are complementary, but you must combine them by conditioning, not blending. Four: framed as a calibrated, deferring screener, it's genuinely clinically usable. Five: the frontier is interpretable, severe-targeted modelling. The one-line version: the strength is the pipeline and an honest framing — the frontier is the severe class.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ways of turning evidence into a score. The first three share the trained encoder and the rank-consistent ordinal head, differing only in the loss; the fourth is the frozen LLM. Note the through-line: balanced and focal CORN both exist to attack the severe class, the project's bottleneck.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these recombine the parts. MIL changes how evidence is pooled and gives interpretability; reranking changes which evidence arrives; and fusion combines the encoder with the LLM — but only after calibration, and only by conditioning on severity or symptom, never a flat blend. That conditioning point is the single most important takeaway of the combination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B45"/>
        </a:solidFill>
      </p:bgPr>
    </p:bg>
    <p:spTree>
      <p:nvGrpSpPr>
        <p:cNvPr id="1" name=""/>
        <p:cNvGrpSpPr/>
        <p:nvPr/>
      </p:nvGrpSpPr>
      <p:grpSpPr>
        <a:xfrm>
          <a:off x="0" y="0"/>
          <a:ext cx="0" cy="0"/>
          <a:chOff x="0" y="0"/>
          <a:chExt cx="0" cy="0"/>
        </a:xfrm>
      </p:grpSpPr>
      <p:sp>
        <p:nvSpPr>
          <p:cNvPr id="2" name="Shape 0"/>
          <p:cNvSpPr/>
          <p:nvPr/>
        </p:nvSpPr>
        <p:spPr>
          <a:xfrm>
            <a:off x="8869680" y="-1828800"/>
            <a:ext cx="4754880" cy="4754880"/>
          </a:xfrm>
          <a:prstGeom prst="ellipse">
            <a:avLst/>
          </a:prstGeom>
          <a:solidFill>
            <a:srgbClr val="0D7D87">
              <a:alpha val="22000"/>
            </a:srgbClr>
          </a:solidFill>
          <a:ln/>
        </p:spPr>
      </p:sp>
      <p:sp>
        <p:nvSpPr>
          <p:cNvPr id="3" name="Shape 1"/>
          <p:cNvSpPr/>
          <p:nvPr/>
        </p:nvSpPr>
        <p:spPr>
          <a:xfrm>
            <a:off x="-1554480" y="4480560"/>
            <a:ext cx="3840480" cy="3840480"/>
          </a:xfrm>
          <a:prstGeom prst="ellipse">
            <a:avLst/>
          </a:prstGeom>
          <a:solidFill>
            <a:srgbClr val="16B5A5">
              <a:alpha val="16000"/>
            </a:srgbClr>
          </a:solidFill>
          <a:ln/>
        </p:spPr>
      </p:sp>
      <p:sp>
        <p:nvSpPr>
          <p:cNvPr id="4" name="Text 2"/>
          <p:cNvSpPr/>
          <p:nvPr/>
        </p:nvSpPr>
        <p:spPr>
          <a:xfrm>
            <a:off x="594360" y="1417320"/>
            <a:ext cx="9144000" cy="365760"/>
          </a:xfrm>
          <a:prstGeom prst="rect">
            <a:avLst/>
          </a:prstGeom>
          <a:noFill/>
          <a:ln/>
        </p:spPr>
        <p:txBody>
          <a:bodyPr wrap="square" lIns="0" tIns="0" rIns="0" bIns="0" rtlCol="0" anchor="ctr"/>
          <a:lstStyle/>
          <a:p>
            <a:pPr indent="0" marL="0">
              <a:buNone/>
            </a:pPr>
            <a:r>
              <a:rPr lang="en-US" sz="1400" b="1" spc="300" kern="0" dirty="0">
                <a:solidFill>
                  <a:srgbClr val="16B5A5"/>
                </a:solidFill>
                <a:latin typeface="Calibri" pitchFamily="34" charset="0"/>
                <a:ea typeface="Calibri" pitchFamily="34" charset="-122"/>
                <a:cs typeface="Calibri" pitchFamily="34" charset="-120"/>
              </a:rPr>
              <a:t>DEPRESSION SCREENING · NLP</a:t>
            </a:r>
            <a:endParaRPr lang="en-US" sz="1400" dirty="0"/>
          </a:p>
        </p:txBody>
      </p:sp>
      <p:sp>
        <p:nvSpPr>
          <p:cNvPr id="5" name="Text 3"/>
          <p:cNvSpPr/>
          <p:nvPr/>
        </p:nvSpPr>
        <p:spPr>
          <a:xfrm>
            <a:off x="594360" y="1874520"/>
            <a:ext cx="10424160" cy="1737360"/>
          </a:xfrm>
          <a:prstGeom prst="rect">
            <a:avLst/>
          </a:prstGeom>
          <a:noFill/>
          <a:ln/>
        </p:spPr>
        <p:txBody>
          <a:bodyPr wrap="square" lIns="0" tIns="0" rIns="0" bIns="0" rtlCol="0" anchor="ctr"/>
          <a:lstStyle/>
          <a:p>
            <a:pPr indent="0" marL="0">
              <a:lnSpc>
                <a:spcPct val="102000"/>
              </a:lnSpc>
              <a:buNone/>
            </a:pPr>
            <a:r>
              <a:rPr lang="en-US" sz="4100" b="1" dirty="0">
                <a:solidFill>
                  <a:srgbClr val="FFFFFF"/>
                </a:solidFill>
                <a:latin typeface="Cambria" pitchFamily="34" charset="0"/>
                <a:ea typeface="Cambria" pitchFamily="34" charset="-122"/>
                <a:cs typeface="Cambria" pitchFamily="34" charset="-120"/>
              </a:rPr>
              <a:t>Reading Depression Severity from Clinical Interviews</a:t>
            </a:r>
            <a:endParaRPr lang="en-US" sz="4100" dirty="0"/>
          </a:p>
        </p:txBody>
      </p:sp>
      <p:sp>
        <p:nvSpPr>
          <p:cNvPr id="6" name="Text 4"/>
          <p:cNvSpPr/>
          <p:nvPr/>
        </p:nvSpPr>
        <p:spPr>
          <a:xfrm>
            <a:off x="594360" y="3611880"/>
            <a:ext cx="10058400" cy="822960"/>
          </a:xfrm>
          <a:prstGeom prst="rect">
            <a:avLst/>
          </a:prstGeom>
          <a:noFill/>
          <a:ln/>
        </p:spPr>
        <p:txBody>
          <a:bodyPr wrap="square" lIns="0" tIns="0" rIns="0" bIns="0" rtlCol="0" anchor="ctr"/>
          <a:lstStyle/>
          <a:p>
            <a:pPr indent="0" marL="0">
              <a:lnSpc>
                <a:spcPct val="105000"/>
              </a:lnSpc>
              <a:buNone/>
            </a:pPr>
            <a:r>
              <a:rPr lang="en-US" sz="1700" dirty="0">
                <a:solidFill>
                  <a:srgbClr val="CDE6E6"/>
                </a:solidFill>
                <a:latin typeface="Calibri" pitchFamily="34" charset="0"/>
                <a:ea typeface="Calibri" pitchFamily="34" charset="-122"/>
                <a:cs typeface="Calibri" pitchFamily="34" charset="-120"/>
              </a:rPr>
              <a:t>PHQ-8 item-level severity prediction — what drives performance, how robust it is, and how far it can be pushed</a:t>
            </a:r>
            <a:endParaRPr lang="en-US" sz="1700" dirty="0"/>
          </a:p>
        </p:txBody>
      </p:sp>
      <p:sp>
        <p:nvSpPr>
          <p:cNvPr id="7" name="Text 5"/>
          <p:cNvSpPr/>
          <p:nvPr/>
        </p:nvSpPr>
        <p:spPr>
          <a:xfrm>
            <a:off x="594360" y="5806440"/>
            <a:ext cx="10972800" cy="4572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MentalBERT + CORN</a:t>
            </a:r>
            <a:pPr indent="0" marL="0">
              <a:buNone/>
            </a:pPr>
            <a:r>
              <a:rPr lang="en-US" sz="1250" dirty="0">
                <a:solidFill>
                  <a:srgbClr val="9FC3C3"/>
                </a:solidFill>
                <a:latin typeface="Calibri" pitchFamily="34" charset="0"/>
                <a:ea typeface="Calibri" pitchFamily="34" charset="-122"/>
                <a:cs typeface="Calibri" pitchFamily="34" charset="-120"/>
              </a:rPr>
              <a:t>   ·   hybrid context-window retrieval   ·   </a:t>
            </a:r>
            <a:pPr indent="0" marL="0">
              <a:buNone/>
            </a:pPr>
            <a:r>
              <a:rPr lang="en-US" sz="1250" b="1" dirty="0">
                <a:solidFill>
                  <a:srgbClr val="FFFFFF"/>
                </a:solidFill>
                <a:latin typeface="Calibri" pitchFamily="34" charset="0"/>
                <a:ea typeface="Calibri" pitchFamily="34" charset="-122"/>
                <a:cs typeface="Calibri" pitchFamily="34" charset="-120"/>
              </a:rPr>
              <a:t>frozen-LLM Chain-of-Thought</a:t>
            </a:r>
            <a:pPr indent="0" marL="0">
              <a:buNone/>
            </a:pPr>
            <a:r>
              <a:rPr lang="en-US" sz="1250" dirty="0">
                <a:solidFill>
                  <a:srgbClr val="9FC3C3"/>
                </a:solidFill>
                <a:latin typeface="Calibri" pitchFamily="34" charset="0"/>
                <a:ea typeface="Calibri" pitchFamily="34" charset="-122"/>
                <a:cs typeface="Calibri" pitchFamily="34" charset="-120"/>
              </a:rPr>
              <a:t>      |      219 participants · 1,752 item-examples · 5-fold CV</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292608"/>
          </a:xfrm>
          <a:prstGeom prst="rect">
            <a:avLst/>
          </a:prstGeom>
          <a:noFill/>
          <a:ln/>
        </p:spPr>
        <p:txBody>
          <a:bodyPr wrap="square" lIns="0" tIns="0" rIns="0" bIns="0" rtlCol="0" anchor="ctr"/>
          <a:lstStyle/>
          <a:p>
            <a:pPr indent="0" marL="0">
              <a:buNone/>
            </a:pPr>
            <a:r>
              <a:rPr lang="en-US" sz="1250" b="1" spc="200" kern="0" dirty="0">
                <a:solidFill>
                  <a:srgbClr val="0D7D87"/>
                </a:solidFill>
                <a:latin typeface="Calibri" pitchFamily="34" charset="0"/>
                <a:ea typeface="Calibri" pitchFamily="34" charset="-122"/>
                <a:cs typeface="Calibri" pitchFamily="34" charset="-120"/>
              </a:rPr>
              <a:t>THE TASK</a:t>
            </a:r>
            <a:endParaRPr lang="en-US" sz="1250" dirty="0"/>
          </a:p>
        </p:txBody>
      </p:sp>
      <p:sp>
        <p:nvSpPr>
          <p:cNvPr id="3" name="Text 1"/>
          <p:cNvSpPr/>
          <p:nvPr/>
        </p:nvSpPr>
        <p:spPr>
          <a:xfrm>
            <a:off x="594360" y="676656"/>
            <a:ext cx="10972800" cy="713232"/>
          </a:xfrm>
          <a:prstGeom prst="rect">
            <a:avLst/>
          </a:prstGeom>
          <a:noFill/>
          <a:ln/>
        </p:spPr>
        <p:txBody>
          <a:bodyPr wrap="square" lIns="0" tIns="0" rIns="0" bIns="0" rtlCol="0" anchor="ctr"/>
          <a:lstStyle/>
          <a:p>
            <a:pPr indent="0" marL="0">
              <a:buNone/>
            </a:pPr>
            <a:r>
              <a:rPr lang="en-US" sz="2600" b="1" dirty="0">
                <a:solidFill>
                  <a:srgbClr val="0F172A"/>
                </a:solidFill>
                <a:latin typeface="Cambria" pitchFamily="34" charset="0"/>
                <a:ea typeface="Cambria" pitchFamily="34" charset="-122"/>
                <a:cs typeface="Cambria" pitchFamily="34" charset="-120"/>
              </a:rPr>
              <a:t>Eight depression symptoms, rated from one conversation</a:t>
            </a:r>
            <a:endParaRPr lang="en-US" sz="2600" dirty="0"/>
          </a:p>
        </p:txBody>
      </p:sp>
      <p:sp>
        <p:nvSpPr>
          <p:cNvPr id="4" name="Text 2"/>
          <p:cNvSpPr/>
          <p:nvPr/>
        </p:nvSpPr>
        <p:spPr>
          <a:xfrm>
            <a:off x="594360" y="1417320"/>
            <a:ext cx="10972800" cy="777240"/>
          </a:xfrm>
          <a:prstGeom prst="rect">
            <a:avLst/>
          </a:prstGeom>
          <a:noFill/>
          <a:ln/>
        </p:spPr>
        <p:txBody>
          <a:bodyPr wrap="square" lIns="0" tIns="0" rIns="0" bIns="0" rtlCol="0" anchor="ctr"/>
          <a:lstStyle/>
          <a:p>
            <a:pPr indent="0" marL="0">
              <a:lnSpc>
                <a:spcPct val="106000"/>
              </a:lnSpc>
              <a:buNone/>
            </a:pPr>
            <a:r>
              <a:rPr lang="en-US" sz="1550" dirty="0">
                <a:solidFill>
                  <a:srgbClr val="0F172A"/>
                </a:solidFill>
                <a:latin typeface="Calibri" pitchFamily="34" charset="0"/>
                <a:ea typeface="Calibri" pitchFamily="34" charset="-122"/>
                <a:cs typeface="Calibri" pitchFamily="34" charset="-120"/>
              </a:rPr>
              <a:t>For each clinical interview transcript, predict the PHQ-8 score (0–3, ordinal) of all eight depression symptoms — then reconstruct the total to screen for clinically significant depression (≥ 10).</a:t>
            </a:r>
            <a:endParaRPr lang="en-US" sz="1550" dirty="0"/>
          </a:p>
        </p:txBody>
      </p:sp>
      <p:sp>
        <p:nvSpPr>
          <p:cNvPr id="5" name="Shape 3"/>
          <p:cNvSpPr/>
          <p:nvPr/>
        </p:nvSpPr>
        <p:spPr>
          <a:xfrm>
            <a:off x="594360" y="2377440"/>
            <a:ext cx="2542032" cy="1417320"/>
          </a:xfrm>
          <a:prstGeom prst="roundRect">
            <a:avLst>
              <a:gd name="adj" fmla="val 6452"/>
            </a:avLst>
          </a:prstGeom>
          <a:solidFill>
            <a:srgbClr val="EEF6F6"/>
          </a:solidFill>
          <a:ln/>
          <a:effectLst>
            <a:outerShdw sx="100000" sy="100000" kx="0" ky="0" algn="bl" rotWithShape="0" blurRad="114300" dist="38100" dir="5400000">
              <a:srgbClr val="0B3B45">
                <a:alpha val="14000"/>
              </a:srgbClr>
            </a:outerShdw>
          </a:effectLst>
        </p:spPr>
      </p:sp>
      <p:sp>
        <p:nvSpPr>
          <p:cNvPr id="6" name="Text 4"/>
          <p:cNvSpPr/>
          <p:nvPr/>
        </p:nvSpPr>
        <p:spPr>
          <a:xfrm>
            <a:off x="594360" y="2542032"/>
            <a:ext cx="2542032" cy="640080"/>
          </a:xfrm>
          <a:prstGeom prst="rect">
            <a:avLst/>
          </a:prstGeom>
          <a:noFill/>
          <a:ln/>
        </p:spPr>
        <p:txBody>
          <a:bodyPr wrap="square" lIns="0" tIns="0" rIns="0" bIns="0" rtlCol="0" anchor="ctr"/>
          <a:lstStyle/>
          <a:p>
            <a:pPr algn="ctr" indent="0" marL="0">
              <a:buNone/>
            </a:pPr>
            <a:r>
              <a:rPr lang="en-US" sz="3400" b="1" dirty="0">
                <a:solidFill>
                  <a:srgbClr val="0D7D87"/>
                </a:solidFill>
                <a:latin typeface="Cambria" pitchFamily="34" charset="0"/>
                <a:ea typeface="Cambria" pitchFamily="34" charset="-122"/>
                <a:cs typeface="Cambria" pitchFamily="34" charset="-120"/>
              </a:rPr>
              <a:t>219</a:t>
            </a:r>
            <a:endParaRPr lang="en-US" sz="3400" dirty="0"/>
          </a:p>
        </p:txBody>
      </p:sp>
      <p:sp>
        <p:nvSpPr>
          <p:cNvPr id="7" name="Text 5"/>
          <p:cNvSpPr/>
          <p:nvPr/>
        </p:nvSpPr>
        <p:spPr>
          <a:xfrm>
            <a:off x="594360" y="3182112"/>
            <a:ext cx="2542032" cy="548640"/>
          </a:xfrm>
          <a:prstGeom prst="rect">
            <a:avLst/>
          </a:prstGeom>
          <a:noFill/>
          <a:ln/>
        </p:spPr>
        <p:txBody>
          <a:bodyPr wrap="square" lIns="0" tIns="0" rIns="0" bIns="0" rtlCol="0" anchor="ctr"/>
          <a:lstStyle/>
          <a:p>
            <a:pPr algn="ctr" indent="0" marL="0">
              <a:lnSpc>
                <a:spcPct val="95000"/>
              </a:lnSpc>
              <a:buNone/>
            </a:pPr>
            <a:r>
              <a:rPr lang="en-US" sz="1250" dirty="0">
                <a:solidFill>
                  <a:srgbClr val="5B7079"/>
                </a:solidFill>
                <a:latin typeface="Calibri" pitchFamily="34" charset="0"/>
                <a:ea typeface="Calibri" pitchFamily="34" charset="-122"/>
                <a:cs typeface="Calibri" pitchFamily="34" charset="-120"/>
              </a:rPr>
              <a:t>participants</a:t>
            </a:r>
            <a:endParaRPr lang="en-US" sz="1250" dirty="0"/>
          </a:p>
          <a:p>
            <a:pPr algn="ctr" indent="0" marL="0">
              <a:lnSpc>
                <a:spcPct val="95000"/>
              </a:lnSpc>
              <a:buNone/>
            </a:pPr>
            <a:r>
              <a:rPr lang="en-US" sz="1250" dirty="0">
                <a:solidFill>
                  <a:srgbClr val="5B7079"/>
                </a:solidFill>
                <a:latin typeface="Calibri" pitchFamily="34" charset="0"/>
                <a:ea typeface="Calibri" pitchFamily="34" charset="-122"/>
                <a:cs typeface="Calibri" pitchFamily="34" charset="-120"/>
              </a:rPr>
              <a:t>(DAIC-WOZ)</a:t>
            </a:r>
            <a:endParaRPr lang="en-US" sz="1250" dirty="0"/>
          </a:p>
        </p:txBody>
      </p:sp>
      <p:sp>
        <p:nvSpPr>
          <p:cNvPr id="8" name="Shape 6"/>
          <p:cNvSpPr/>
          <p:nvPr/>
        </p:nvSpPr>
        <p:spPr>
          <a:xfrm>
            <a:off x="3438144" y="2377440"/>
            <a:ext cx="2542032" cy="1417320"/>
          </a:xfrm>
          <a:prstGeom prst="roundRect">
            <a:avLst>
              <a:gd name="adj" fmla="val 6452"/>
            </a:avLst>
          </a:prstGeom>
          <a:solidFill>
            <a:srgbClr val="EEF6F6"/>
          </a:solidFill>
          <a:ln/>
          <a:effectLst>
            <a:outerShdw sx="100000" sy="100000" kx="0" ky="0" algn="bl" rotWithShape="0" blurRad="114300" dist="38100" dir="5400000">
              <a:srgbClr val="0B3B45">
                <a:alpha val="14000"/>
              </a:srgbClr>
            </a:outerShdw>
          </a:effectLst>
        </p:spPr>
      </p:sp>
      <p:sp>
        <p:nvSpPr>
          <p:cNvPr id="9" name="Text 7"/>
          <p:cNvSpPr/>
          <p:nvPr/>
        </p:nvSpPr>
        <p:spPr>
          <a:xfrm>
            <a:off x="3438144" y="2542032"/>
            <a:ext cx="2542032" cy="640080"/>
          </a:xfrm>
          <a:prstGeom prst="rect">
            <a:avLst/>
          </a:prstGeom>
          <a:noFill/>
          <a:ln/>
        </p:spPr>
        <p:txBody>
          <a:bodyPr wrap="square" lIns="0" tIns="0" rIns="0" bIns="0" rtlCol="0" anchor="ctr"/>
          <a:lstStyle/>
          <a:p>
            <a:pPr algn="ctr" indent="0" marL="0">
              <a:buNone/>
            </a:pPr>
            <a:r>
              <a:rPr lang="en-US" sz="3400" b="1" dirty="0">
                <a:solidFill>
                  <a:srgbClr val="0D7D87"/>
                </a:solidFill>
                <a:latin typeface="Cambria" pitchFamily="34" charset="0"/>
                <a:ea typeface="Cambria" pitchFamily="34" charset="-122"/>
                <a:cs typeface="Cambria" pitchFamily="34" charset="-120"/>
              </a:rPr>
              <a:t>1,752</a:t>
            </a:r>
            <a:endParaRPr lang="en-US" sz="3400" dirty="0"/>
          </a:p>
        </p:txBody>
      </p:sp>
      <p:sp>
        <p:nvSpPr>
          <p:cNvPr id="10" name="Text 8"/>
          <p:cNvSpPr/>
          <p:nvPr/>
        </p:nvSpPr>
        <p:spPr>
          <a:xfrm>
            <a:off x="3438144" y="3182112"/>
            <a:ext cx="2542032" cy="548640"/>
          </a:xfrm>
          <a:prstGeom prst="rect">
            <a:avLst/>
          </a:prstGeom>
          <a:noFill/>
          <a:ln/>
        </p:spPr>
        <p:txBody>
          <a:bodyPr wrap="square" lIns="0" tIns="0" rIns="0" bIns="0" rtlCol="0" anchor="ctr"/>
          <a:lstStyle/>
          <a:p>
            <a:pPr algn="ctr" indent="0" marL="0">
              <a:lnSpc>
                <a:spcPct val="95000"/>
              </a:lnSpc>
              <a:buNone/>
            </a:pPr>
            <a:r>
              <a:rPr lang="en-US" sz="1250" dirty="0">
                <a:solidFill>
                  <a:srgbClr val="5B7079"/>
                </a:solidFill>
                <a:latin typeface="Calibri" pitchFamily="34" charset="0"/>
                <a:ea typeface="Calibri" pitchFamily="34" charset="-122"/>
                <a:cs typeface="Calibri" pitchFamily="34" charset="-120"/>
              </a:rPr>
              <a:t>item-level</a:t>
            </a:r>
            <a:endParaRPr lang="en-US" sz="1250" dirty="0"/>
          </a:p>
          <a:p>
            <a:pPr algn="ctr" indent="0" marL="0">
              <a:lnSpc>
                <a:spcPct val="95000"/>
              </a:lnSpc>
              <a:buNone/>
            </a:pPr>
            <a:r>
              <a:rPr lang="en-US" sz="1250" dirty="0">
                <a:solidFill>
                  <a:srgbClr val="5B7079"/>
                </a:solidFill>
                <a:latin typeface="Calibri" pitchFamily="34" charset="0"/>
                <a:ea typeface="Calibri" pitchFamily="34" charset="-122"/>
                <a:cs typeface="Calibri" pitchFamily="34" charset="-120"/>
              </a:rPr>
              <a:t>examples</a:t>
            </a:r>
            <a:endParaRPr lang="en-US" sz="1250" dirty="0"/>
          </a:p>
        </p:txBody>
      </p:sp>
      <p:sp>
        <p:nvSpPr>
          <p:cNvPr id="11" name="Shape 9"/>
          <p:cNvSpPr/>
          <p:nvPr/>
        </p:nvSpPr>
        <p:spPr>
          <a:xfrm>
            <a:off x="6281928" y="2377440"/>
            <a:ext cx="2542032" cy="1417320"/>
          </a:xfrm>
          <a:prstGeom prst="roundRect">
            <a:avLst>
              <a:gd name="adj" fmla="val 6452"/>
            </a:avLst>
          </a:prstGeom>
          <a:solidFill>
            <a:srgbClr val="EEF6F6"/>
          </a:solidFill>
          <a:ln/>
          <a:effectLst>
            <a:outerShdw sx="100000" sy="100000" kx="0" ky="0" algn="bl" rotWithShape="0" blurRad="114300" dist="38100" dir="5400000">
              <a:srgbClr val="0B3B45">
                <a:alpha val="14000"/>
              </a:srgbClr>
            </a:outerShdw>
          </a:effectLst>
        </p:spPr>
      </p:sp>
      <p:sp>
        <p:nvSpPr>
          <p:cNvPr id="12" name="Text 10"/>
          <p:cNvSpPr/>
          <p:nvPr/>
        </p:nvSpPr>
        <p:spPr>
          <a:xfrm>
            <a:off x="6281928" y="2542032"/>
            <a:ext cx="2542032" cy="640080"/>
          </a:xfrm>
          <a:prstGeom prst="rect">
            <a:avLst/>
          </a:prstGeom>
          <a:noFill/>
          <a:ln/>
        </p:spPr>
        <p:txBody>
          <a:bodyPr wrap="square" lIns="0" tIns="0" rIns="0" bIns="0" rtlCol="0" anchor="ctr"/>
          <a:lstStyle/>
          <a:p>
            <a:pPr algn="ctr" indent="0" marL="0">
              <a:buNone/>
            </a:pPr>
            <a:r>
              <a:rPr lang="en-US" sz="3400" b="1" dirty="0">
                <a:solidFill>
                  <a:srgbClr val="0D7D87"/>
                </a:solidFill>
                <a:latin typeface="Cambria" pitchFamily="34" charset="0"/>
                <a:ea typeface="Cambria" pitchFamily="34" charset="-122"/>
                <a:cs typeface="Cambria" pitchFamily="34" charset="-120"/>
              </a:rPr>
              <a:t>4</a:t>
            </a:r>
            <a:endParaRPr lang="en-US" sz="3400" dirty="0"/>
          </a:p>
        </p:txBody>
      </p:sp>
      <p:sp>
        <p:nvSpPr>
          <p:cNvPr id="13" name="Text 11"/>
          <p:cNvSpPr/>
          <p:nvPr/>
        </p:nvSpPr>
        <p:spPr>
          <a:xfrm>
            <a:off x="6281928" y="3182112"/>
            <a:ext cx="2542032" cy="548640"/>
          </a:xfrm>
          <a:prstGeom prst="rect">
            <a:avLst/>
          </a:prstGeom>
          <a:noFill/>
          <a:ln/>
        </p:spPr>
        <p:txBody>
          <a:bodyPr wrap="square" lIns="0" tIns="0" rIns="0" bIns="0" rtlCol="0" anchor="ctr"/>
          <a:lstStyle/>
          <a:p>
            <a:pPr algn="ctr" indent="0" marL="0">
              <a:lnSpc>
                <a:spcPct val="95000"/>
              </a:lnSpc>
              <a:buNone/>
            </a:pPr>
            <a:r>
              <a:rPr lang="en-US" sz="1250" dirty="0">
                <a:solidFill>
                  <a:srgbClr val="5B7079"/>
                </a:solidFill>
                <a:latin typeface="Calibri" pitchFamily="34" charset="0"/>
                <a:ea typeface="Calibri" pitchFamily="34" charset="-122"/>
                <a:cs typeface="Calibri" pitchFamily="34" charset="-120"/>
              </a:rPr>
              <a:t>ordinal severity</a:t>
            </a:r>
            <a:endParaRPr lang="en-US" sz="1250" dirty="0"/>
          </a:p>
          <a:p>
            <a:pPr algn="ctr" indent="0" marL="0">
              <a:lnSpc>
                <a:spcPct val="95000"/>
              </a:lnSpc>
              <a:buNone/>
            </a:pPr>
            <a:r>
              <a:rPr lang="en-US" sz="1250" dirty="0">
                <a:solidFill>
                  <a:srgbClr val="5B7079"/>
                </a:solidFill>
                <a:latin typeface="Calibri" pitchFamily="34" charset="0"/>
                <a:ea typeface="Calibri" pitchFamily="34" charset="-122"/>
                <a:cs typeface="Calibri" pitchFamily="34" charset="-120"/>
              </a:rPr>
              <a:t>classes (0–3)</a:t>
            </a:r>
            <a:endParaRPr lang="en-US" sz="1250" dirty="0"/>
          </a:p>
        </p:txBody>
      </p:sp>
      <p:sp>
        <p:nvSpPr>
          <p:cNvPr id="14" name="Shape 12"/>
          <p:cNvSpPr/>
          <p:nvPr/>
        </p:nvSpPr>
        <p:spPr>
          <a:xfrm>
            <a:off x="9125712" y="2377440"/>
            <a:ext cx="2542032" cy="1417320"/>
          </a:xfrm>
          <a:prstGeom prst="roundRect">
            <a:avLst>
              <a:gd name="adj" fmla="val 6452"/>
            </a:avLst>
          </a:prstGeom>
          <a:solidFill>
            <a:srgbClr val="0B3B45"/>
          </a:solidFill>
          <a:ln/>
          <a:effectLst>
            <a:outerShdw sx="100000" sy="100000" kx="0" ky="0" algn="bl" rotWithShape="0" blurRad="114300" dist="38100" dir="5400000">
              <a:srgbClr val="0B3B45">
                <a:alpha val="14000"/>
              </a:srgbClr>
            </a:outerShdw>
          </a:effectLst>
        </p:spPr>
      </p:sp>
      <p:sp>
        <p:nvSpPr>
          <p:cNvPr id="15" name="Text 13"/>
          <p:cNvSpPr/>
          <p:nvPr/>
        </p:nvSpPr>
        <p:spPr>
          <a:xfrm>
            <a:off x="9125712" y="2542032"/>
            <a:ext cx="2542032" cy="640080"/>
          </a:xfrm>
          <a:prstGeom prst="rect">
            <a:avLst/>
          </a:prstGeom>
          <a:noFill/>
          <a:ln/>
        </p:spPr>
        <p:txBody>
          <a:bodyPr wrap="square" lIns="0" tIns="0" rIns="0" bIns="0" rtlCol="0" anchor="ctr"/>
          <a:lstStyle/>
          <a:p>
            <a:pPr algn="ctr" indent="0" marL="0">
              <a:buNone/>
            </a:pPr>
            <a:r>
              <a:rPr lang="en-US" sz="3400" b="1" dirty="0">
                <a:solidFill>
                  <a:srgbClr val="16B5A5"/>
                </a:solidFill>
                <a:latin typeface="Cambria" pitchFamily="34" charset="0"/>
                <a:ea typeface="Cambria" pitchFamily="34" charset="-122"/>
                <a:cs typeface="Cambria" pitchFamily="34" charset="-120"/>
              </a:rPr>
              <a:t>9.5%</a:t>
            </a:r>
            <a:endParaRPr lang="en-US" sz="3400" dirty="0"/>
          </a:p>
        </p:txBody>
      </p:sp>
      <p:sp>
        <p:nvSpPr>
          <p:cNvPr id="16" name="Text 14"/>
          <p:cNvSpPr/>
          <p:nvPr/>
        </p:nvSpPr>
        <p:spPr>
          <a:xfrm>
            <a:off x="9125712" y="3182112"/>
            <a:ext cx="2542032" cy="548640"/>
          </a:xfrm>
          <a:prstGeom prst="rect">
            <a:avLst/>
          </a:prstGeom>
          <a:noFill/>
          <a:ln/>
        </p:spPr>
        <p:txBody>
          <a:bodyPr wrap="square" lIns="0" tIns="0" rIns="0" bIns="0" rtlCol="0" anchor="ctr"/>
          <a:lstStyle/>
          <a:p>
            <a:pPr algn="ctr" indent="0" marL="0">
              <a:lnSpc>
                <a:spcPct val="95000"/>
              </a:lnSpc>
              <a:buNone/>
            </a:pPr>
            <a:r>
              <a:rPr lang="en-US" sz="1250" dirty="0">
                <a:solidFill>
                  <a:srgbClr val="CDE6E6"/>
                </a:solidFill>
                <a:latin typeface="Calibri" pitchFamily="34" charset="0"/>
                <a:ea typeface="Calibri" pitchFamily="34" charset="-122"/>
                <a:cs typeface="Calibri" pitchFamily="34" charset="-120"/>
              </a:rPr>
              <a:t>are severe —</a:t>
            </a:r>
            <a:endParaRPr lang="en-US" sz="1250" dirty="0"/>
          </a:p>
          <a:p>
            <a:pPr algn="ctr" indent="0" marL="0">
              <a:lnSpc>
                <a:spcPct val="95000"/>
              </a:lnSpc>
              <a:buNone/>
            </a:pPr>
            <a:r>
              <a:rPr lang="en-US" sz="1250" dirty="0">
                <a:solidFill>
                  <a:srgbClr val="CDE6E6"/>
                </a:solidFill>
                <a:latin typeface="Calibri" pitchFamily="34" charset="0"/>
                <a:ea typeface="Calibri" pitchFamily="34" charset="-122"/>
                <a:cs typeface="Calibri" pitchFamily="34" charset="-120"/>
              </a:rPr>
              <a:t>the hard tail</a:t>
            </a:r>
            <a:endParaRPr lang="en-US" sz="1250" dirty="0"/>
          </a:p>
        </p:txBody>
      </p:sp>
      <p:sp>
        <p:nvSpPr>
          <p:cNvPr id="17" name="Text 15"/>
          <p:cNvSpPr/>
          <p:nvPr/>
        </p:nvSpPr>
        <p:spPr>
          <a:xfrm>
            <a:off x="594360" y="4114800"/>
            <a:ext cx="9144000" cy="274320"/>
          </a:xfrm>
          <a:prstGeom prst="rect">
            <a:avLst/>
          </a:prstGeom>
          <a:noFill/>
          <a:ln/>
        </p:spPr>
        <p:txBody>
          <a:bodyPr wrap="square" lIns="0" tIns="0" rIns="0" bIns="0" rtlCol="0" anchor="ctr"/>
          <a:lstStyle/>
          <a:p>
            <a:pPr indent="0" marL="0">
              <a:buNone/>
            </a:pPr>
            <a:r>
              <a:rPr lang="en-US" sz="1200" b="1" spc="200" kern="0" dirty="0">
                <a:solidFill>
                  <a:srgbClr val="0D7D87"/>
                </a:solidFill>
                <a:latin typeface="Calibri" pitchFamily="34" charset="0"/>
                <a:ea typeface="Calibri" pitchFamily="34" charset="-122"/>
                <a:cs typeface="Calibri" pitchFamily="34" charset="-120"/>
              </a:rPr>
              <a:t>THREE MODELLING INGREDIENTS</a:t>
            </a:r>
            <a:endParaRPr lang="en-US" sz="1200" dirty="0"/>
          </a:p>
        </p:txBody>
      </p:sp>
      <p:sp>
        <p:nvSpPr>
          <p:cNvPr id="18" name="Shape 16"/>
          <p:cNvSpPr/>
          <p:nvPr/>
        </p:nvSpPr>
        <p:spPr>
          <a:xfrm>
            <a:off x="594360" y="4434840"/>
            <a:ext cx="3566160" cy="1051560"/>
          </a:xfrm>
          <a:prstGeom prst="roundRect">
            <a:avLst>
              <a:gd name="adj" fmla="val 6957"/>
            </a:avLst>
          </a:prstGeom>
          <a:solidFill>
            <a:srgbClr val="FFFFFF"/>
          </a:solidFill>
          <a:ln w="12700">
            <a:solidFill>
              <a:srgbClr val="D9E6E6"/>
            </a:solidFill>
            <a:prstDash val="solid"/>
          </a:ln>
        </p:spPr>
      </p:sp>
      <p:sp>
        <p:nvSpPr>
          <p:cNvPr id="19" name="Text 17"/>
          <p:cNvSpPr/>
          <p:nvPr/>
        </p:nvSpPr>
        <p:spPr>
          <a:xfrm>
            <a:off x="795528" y="4562856"/>
            <a:ext cx="3200400" cy="310896"/>
          </a:xfrm>
          <a:prstGeom prst="rect">
            <a:avLst/>
          </a:prstGeom>
          <a:noFill/>
          <a:ln/>
        </p:spPr>
        <p:txBody>
          <a:bodyPr wrap="square" lIns="0" tIns="0" rIns="0" bIns="0" rtlCol="0" anchor="ctr"/>
          <a:lstStyle/>
          <a:p>
            <a:pPr indent="0" marL="0">
              <a:buNone/>
            </a:pPr>
            <a:r>
              <a:rPr lang="en-US" sz="1600" b="1" dirty="0">
                <a:solidFill>
                  <a:srgbClr val="0F172A"/>
                </a:solidFill>
                <a:latin typeface="Cambria" pitchFamily="34" charset="0"/>
                <a:ea typeface="Cambria" pitchFamily="34" charset="-122"/>
                <a:cs typeface="Cambria" pitchFamily="34" charset="-120"/>
              </a:rPr>
              <a:t>Encoder</a:t>
            </a:r>
            <a:endParaRPr lang="en-US" sz="1600" dirty="0"/>
          </a:p>
        </p:txBody>
      </p:sp>
      <p:sp>
        <p:nvSpPr>
          <p:cNvPr id="20" name="Text 18"/>
          <p:cNvSpPr/>
          <p:nvPr/>
        </p:nvSpPr>
        <p:spPr>
          <a:xfrm>
            <a:off x="795528" y="4892040"/>
            <a:ext cx="3200400" cy="548640"/>
          </a:xfrm>
          <a:prstGeom prst="rect">
            <a:avLst/>
          </a:prstGeom>
          <a:noFill/>
          <a:ln/>
        </p:spPr>
        <p:txBody>
          <a:bodyPr wrap="square" lIns="0" tIns="0" rIns="0" bIns="0" rtlCol="0" anchor="ctr"/>
          <a:lstStyle/>
          <a:p>
            <a:pPr indent="0" marL="0">
              <a:lnSpc>
                <a:spcPct val="100000"/>
              </a:lnSpc>
              <a:buNone/>
            </a:pPr>
            <a:r>
              <a:rPr lang="en-US" sz="1200" dirty="0">
                <a:solidFill>
                  <a:srgbClr val="5B7079"/>
                </a:solidFill>
                <a:latin typeface="Calibri" pitchFamily="34" charset="0"/>
                <a:ea typeface="Calibri" pitchFamily="34" charset="-122"/>
                <a:cs typeface="Calibri" pitchFamily="34" charset="-120"/>
              </a:rPr>
              <a:t>MentalBERT with a rank-consistent CORN ordinal head</a:t>
            </a:r>
            <a:endParaRPr lang="en-US" sz="1200" dirty="0"/>
          </a:p>
        </p:txBody>
      </p:sp>
      <p:sp>
        <p:nvSpPr>
          <p:cNvPr id="21" name="Shape 19"/>
          <p:cNvSpPr/>
          <p:nvPr/>
        </p:nvSpPr>
        <p:spPr>
          <a:xfrm>
            <a:off x="4434840" y="4434840"/>
            <a:ext cx="3566160" cy="1051560"/>
          </a:xfrm>
          <a:prstGeom prst="roundRect">
            <a:avLst>
              <a:gd name="adj" fmla="val 6957"/>
            </a:avLst>
          </a:prstGeom>
          <a:solidFill>
            <a:srgbClr val="FFFFFF"/>
          </a:solidFill>
          <a:ln w="12700">
            <a:solidFill>
              <a:srgbClr val="D9E6E6"/>
            </a:solidFill>
            <a:prstDash val="solid"/>
          </a:ln>
        </p:spPr>
      </p:sp>
      <p:sp>
        <p:nvSpPr>
          <p:cNvPr id="22" name="Text 20"/>
          <p:cNvSpPr/>
          <p:nvPr/>
        </p:nvSpPr>
        <p:spPr>
          <a:xfrm>
            <a:off x="4636008" y="4562856"/>
            <a:ext cx="3200400" cy="310896"/>
          </a:xfrm>
          <a:prstGeom prst="rect">
            <a:avLst/>
          </a:prstGeom>
          <a:noFill/>
          <a:ln/>
        </p:spPr>
        <p:txBody>
          <a:bodyPr wrap="square" lIns="0" tIns="0" rIns="0" bIns="0" rtlCol="0" anchor="ctr"/>
          <a:lstStyle/>
          <a:p>
            <a:pPr indent="0" marL="0">
              <a:buNone/>
            </a:pPr>
            <a:r>
              <a:rPr lang="en-US" sz="1600" b="1" dirty="0">
                <a:solidFill>
                  <a:srgbClr val="0F172A"/>
                </a:solidFill>
                <a:latin typeface="Cambria" pitchFamily="34" charset="0"/>
                <a:ea typeface="Cambria" pitchFamily="34" charset="-122"/>
                <a:cs typeface="Cambria" pitchFamily="34" charset="-120"/>
              </a:rPr>
              <a:t>Retrieval</a:t>
            </a:r>
            <a:endParaRPr lang="en-US" sz="1600" dirty="0"/>
          </a:p>
        </p:txBody>
      </p:sp>
      <p:sp>
        <p:nvSpPr>
          <p:cNvPr id="23" name="Text 21"/>
          <p:cNvSpPr/>
          <p:nvPr/>
        </p:nvSpPr>
        <p:spPr>
          <a:xfrm>
            <a:off x="4636008" y="4892040"/>
            <a:ext cx="3200400" cy="548640"/>
          </a:xfrm>
          <a:prstGeom prst="rect">
            <a:avLst/>
          </a:prstGeom>
          <a:noFill/>
          <a:ln/>
        </p:spPr>
        <p:txBody>
          <a:bodyPr wrap="square" lIns="0" tIns="0" rIns="0" bIns="0" rtlCol="0" anchor="ctr"/>
          <a:lstStyle/>
          <a:p>
            <a:pPr indent="0" marL="0">
              <a:lnSpc>
                <a:spcPct val="100000"/>
              </a:lnSpc>
              <a:buNone/>
            </a:pPr>
            <a:r>
              <a:rPr lang="en-US" sz="1200" dirty="0">
                <a:solidFill>
                  <a:srgbClr val="5B7079"/>
                </a:solidFill>
                <a:latin typeface="Calibri" pitchFamily="34" charset="0"/>
                <a:ea typeface="Calibri" pitchFamily="34" charset="-122"/>
                <a:cs typeface="Calibri" pitchFamily="34" charset="-120"/>
              </a:rPr>
              <a:t>Hybrid (lexical + semantic) context-window evidence per item</a:t>
            </a:r>
            <a:endParaRPr lang="en-US" sz="1200" dirty="0"/>
          </a:p>
        </p:txBody>
      </p:sp>
      <p:sp>
        <p:nvSpPr>
          <p:cNvPr id="24" name="Shape 22"/>
          <p:cNvSpPr/>
          <p:nvPr/>
        </p:nvSpPr>
        <p:spPr>
          <a:xfrm>
            <a:off x="8275320" y="4434840"/>
            <a:ext cx="3566160" cy="1051560"/>
          </a:xfrm>
          <a:prstGeom prst="roundRect">
            <a:avLst>
              <a:gd name="adj" fmla="val 6957"/>
            </a:avLst>
          </a:prstGeom>
          <a:solidFill>
            <a:srgbClr val="FFFFFF"/>
          </a:solidFill>
          <a:ln w="12700">
            <a:solidFill>
              <a:srgbClr val="D9E6E6"/>
            </a:solidFill>
            <a:prstDash val="solid"/>
          </a:ln>
        </p:spPr>
      </p:sp>
      <p:sp>
        <p:nvSpPr>
          <p:cNvPr id="25" name="Text 23"/>
          <p:cNvSpPr/>
          <p:nvPr/>
        </p:nvSpPr>
        <p:spPr>
          <a:xfrm>
            <a:off x="8476488" y="4562856"/>
            <a:ext cx="3200400" cy="310896"/>
          </a:xfrm>
          <a:prstGeom prst="rect">
            <a:avLst/>
          </a:prstGeom>
          <a:noFill/>
          <a:ln/>
        </p:spPr>
        <p:txBody>
          <a:bodyPr wrap="square" lIns="0" tIns="0" rIns="0" bIns="0" rtlCol="0" anchor="ctr"/>
          <a:lstStyle/>
          <a:p>
            <a:pPr indent="0" marL="0">
              <a:buNone/>
            </a:pPr>
            <a:r>
              <a:rPr lang="en-US" sz="1600" b="1" dirty="0">
                <a:solidFill>
                  <a:srgbClr val="0F172A"/>
                </a:solidFill>
                <a:latin typeface="Cambria" pitchFamily="34" charset="0"/>
                <a:ea typeface="Cambria" pitchFamily="34" charset="-122"/>
                <a:cs typeface="Cambria" pitchFamily="34" charset="-120"/>
              </a:rPr>
              <a:t>CoT probe</a:t>
            </a:r>
            <a:endParaRPr lang="en-US" sz="1600" dirty="0"/>
          </a:p>
        </p:txBody>
      </p:sp>
      <p:sp>
        <p:nvSpPr>
          <p:cNvPr id="26" name="Text 24"/>
          <p:cNvSpPr/>
          <p:nvPr/>
        </p:nvSpPr>
        <p:spPr>
          <a:xfrm>
            <a:off x="8476488" y="4892040"/>
            <a:ext cx="3200400" cy="548640"/>
          </a:xfrm>
          <a:prstGeom prst="rect">
            <a:avLst/>
          </a:prstGeom>
          <a:noFill/>
          <a:ln/>
        </p:spPr>
        <p:txBody>
          <a:bodyPr wrap="square" lIns="0" tIns="0" rIns="0" bIns="0" rtlCol="0" anchor="ctr"/>
          <a:lstStyle/>
          <a:p>
            <a:pPr indent="0" marL="0">
              <a:lnSpc>
                <a:spcPct val="100000"/>
              </a:lnSpc>
              <a:buNone/>
            </a:pPr>
            <a:r>
              <a:rPr lang="en-US" sz="1200" dirty="0">
                <a:solidFill>
                  <a:srgbClr val="5B7079"/>
                </a:solidFill>
                <a:latin typeface="Calibri" pitchFamily="34" charset="0"/>
                <a:ea typeface="Calibri" pitchFamily="34" charset="-122"/>
                <a:cs typeface="Calibri" pitchFamily="34" charset="-120"/>
              </a:rPr>
              <a:t>Frozen Qwen-7B, few-shot chain-of-thought — no task training</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292608"/>
          </a:xfrm>
          <a:prstGeom prst="rect">
            <a:avLst/>
          </a:prstGeom>
          <a:noFill/>
          <a:ln/>
        </p:spPr>
        <p:txBody>
          <a:bodyPr wrap="square" lIns="0" tIns="0" rIns="0" bIns="0" rtlCol="0" anchor="ctr"/>
          <a:lstStyle/>
          <a:p>
            <a:pPr indent="0" marL="0">
              <a:buNone/>
            </a:pPr>
            <a:r>
              <a:rPr lang="en-US" sz="1250" b="1" spc="200" kern="0" dirty="0">
                <a:solidFill>
                  <a:srgbClr val="0D7D87"/>
                </a:solidFill>
                <a:latin typeface="Calibri" pitchFamily="34" charset="0"/>
                <a:ea typeface="Calibri" pitchFamily="34" charset="-122"/>
                <a:cs typeface="Calibri" pitchFamily="34" charset="-120"/>
              </a:rPr>
              <a:t>HOW THE MODELS WORK</a:t>
            </a:r>
            <a:endParaRPr lang="en-US" sz="1250" dirty="0"/>
          </a:p>
        </p:txBody>
      </p:sp>
      <p:sp>
        <p:nvSpPr>
          <p:cNvPr id="3" name="Text 1"/>
          <p:cNvSpPr/>
          <p:nvPr/>
        </p:nvSpPr>
        <p:spPr>
          <a:xfrm>
            <a:off x="594360" y="676656"/>
            <a:ext cx="10972800" cy="713232"/>
          </a:xfrm>
          <a:prstGeom prst="rect">
            <a:avLst/>
          </a:prstGeom>
          <a:noFill/>
          <a:ln/>
        </p:spPr>
        <p:txBody>
          <a:bodyPr wrap="square" lIns="0" tIns="0" rIns="0" bIns="0" rtlCol="0" anchor="ctr"/>
          <a:lstStyle/>
          <a:p>
            <a:pPr indent="0" marL="0">
              <a:buNone/>
            </a:pPr>
            <a:r>
              <a:rPr lang="en-US" sz="2600" b="1" dirty="0">
                <a:solidFill>
                  <a:srgbClr val="0F172A"/>
                </a:solidFill>
                <a:latin typeface="Cambria" pitchFamily="34" charset="0"/>
                <a:ea typeface="Cambria" pitchFamily="34" charset="-122"/>
                <a:cs typeface="Cambria" pitchFamily="34" charset="-120"/>
              </a:rPr>
              <a:t>Two strategies over one shared evidence front-end</a:t>
            </a:r>
            <a:endParaRPr lang="en-US" sz="2600" dirty="0"/>
          </a:p>
        </p:txBody>
      </p:sp>
      <p:pic>
        <p:nvPicPr>
          <p:cNvPr id="4" name="Image 0" descr="fig_arch_core.png">    </p:cNvPr>
          <p:cNvPicPr>
            <a:picLocks noChangeAspect="1"/>
          </p:cNvPicPr>
          <p:nvPr/>
        </p:nvPicPr>
        <p:blipFill>
          <a:blip r:embed="rId1"/>
          <a:stretch>
            <a:fillRect/>
          </a:stretch>
        </p:blipFill>
        <p:spPr>
          <a:xfrm>
            <a:off x="1967789" y="1554480"/>
            <a:ext cx="8225942" cy="3657600"/>
          </a:xfrm>
          <a:prstGeom prst="rect">
            <a:avLst/>
          </a:prstGeom>
        </p:spPr>
      </p:pic>
      <p:sp>
        <p:nvSpPr>
          <p:cNvPr id="5" name="Shape 2"/>
          <p:cNvSpPr/>
          <p:nvPr/>
        </p:nvSpPr>
        <p:spPr>
          <a:xfrm>
            <a:off x="594360" y="5650992"/>
            <a:ext cx="10972800" cy="877824"/>
          </a:xfrm>
          <a:prstGeom prst="roundRect">
            <a:avLst>
              <a:gd name="adj" fmla="val 9375"/>
            </a:avLst>
          </a:prstGeom>
          <a:solidFill>
            <a:srgbClr val="EEF6F6"/>
          </a:solidFill>
          <a:ln/>
          <a:effectLst>
            <a:outerShdw sx="100000" sy="100000" kx="0" ky="0" algn="bl" rotWithShape="0" blurRad="114300" dist="38100" dir="5400000">
              <a:srgbClr val="0B3B45">
                <a:alpha val="14000"/>
              </a:srgbClr>
            </a:outerShdw>
          </a:effectLst>
        </p:spPr>
      </p:sp>
      <p:sp>
        <p:nvSpPr>
          <p:cNvPr id="6" name="Text 3"/>
          <p:cNvSpPr/>
          <p:nvPr/>
        </p:nvSpPr>
        <p:spPr>
          <a:xfrm>
            <a:off x="822960" y="5650992"/>
            <a:ext cx="10515600" cy="877824"/>
          </a:xfrm>
          <a:prstGeom prst="rect">
            <a:avLst/>
          </a:prstGeom>
          <a:noFill/>
          <a:ln/>
        </p:spPr>
        <p:txBody>
          <a:bodyPr wrap="square" lIns="0" tIns="0" rIns="0" bIns="0" rtlCol="0" anchor="ctr"/>
          <a:lstStyle/>
          <a:p>
            <a:pPr indent="0" marL="0">
              <a:lnSpc>
                <a:spcPct val="102000"/>
              </a:lnSpc>
              <a:buNone/>
            </a:pPr>
            <a:r>
              <a:rPr lang="en-US" sz="1350" b="1" dirty="0">
                <a:solidFill>
                  <a:srgbClr val="0D7D87"/>
                </a:solidFill>
                <a:latin typeface="Calibri" pitchFamily="34" charset="0"/>
                <a:ea typeface="Calibri" pitchFamily="34" charset="-122"/>
                <a:cs typeface="Calibri" pitchFamily="34" charset="-120"/>
              </a:rPr>
              <a:t>Two paradigms, same evidence.  </a:t>
            </a:r>
            <a:pPr indent="0" marL="0">
              <a:lnSpc>
                <a:spcPct val="102000"/>
              </a:lnSpc>
              <a:buNone/>
            </a:pPr>
            <a:r>
              <a:rPr lang="en-US" sz="1350" dirty="0">
                <a:solidFill>
                  <a:srgbClr val="0F172A"/>
                </a:solidFill>
                <a:latin typeface="Calibri" pitchFamily="34" charset="0"/>
                <a:ea typeface="Calibri" pitchFamily="34" charset="-122"/>
                <a:cs typeface="Calibri" pitchFamily="34" charset="-120"/>
              </a:rPr>
              <a:t>Both read item-aware retrieved windows. </a:t>
            </a:r>
            <a:pPr indent="0" marL="0">
              <a:lnSpc>
                <a:spcPct val="102000"/>
              </a:lnSpc>
              <a:buNone/>
            </a:pPr>
            <a:r>
              <a:rPr lang="en-US" sz="1350" dirty="0">
                <a:solidFill>
                  <a:srgbClr val="0F172A"/>
                </a:solidFill>
                <a:latin typeface="Calibri" pitchFamily="34" charset="0"/>
                <a:ea typeface="Calibri" pitchFamily="34" charset="-122"/>
                <a:cs typeface="Calibri" pitchFamily="34" charset="-120"/>
              </a:rPr>
              <a:t>Strategy A trains MentalBERT end-to-end with a rank-consistent ordinal head; Strategy B is a frozen LLM that reasons over the same evidence — no task training.</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292608"/>
          </a:xfrm>
          <a:prstGeom prst="rect">
            <a:avLst/>
          </a:prstGeom>
          <a:noFill/>
          <a:ln/>
        </p:spPr>
        <p:txBody>
          <a:bodyPr wrap="square" lIns="0" tIns="0" rIns="0" bIns="0" rtlCol="0" anchor="ctr"/>
          <a:lstStyle/>
          <a:p>
            <a:pPr indent="0" marL="0">
              <a:buNone/>
            </a:pPr>
            <a:r>
              <a:rPr lang="en-US" sz="1250" b="1" spc="200" kern="0" dirty="0">
                <a:solidFill>
                  <a:srgbClr val="0D7D87"/>
                </a:solidFill>
                <a:latin typeface="Calibri" pitchFamily="34" charset="0"/>
                <a:ea typeface="Calibri" pitchFamily="34" charset="-122"/>
                <a:cs typeface="Calibri" pitchFamily="34" charset="-120"/>
              </a:rPr>
              <a:t>HOW THE MODELS WORK</a:t>
            </a:r>
            <a:endParaRPr lang="en-US" sz="1250" dirty="0"/>
          </a:p>
        </p:txBody>
      </p:sp>
      <p:sp>
        <p:nvSpPr>
          <p:cNvPr id="3" name="Text 1"/>
          <p:cNvSpPr/>
          <p:nvPr/>
        </p:nvSpPr>
        <p:spPr>
          <a:xfrm>
            <a:off x="594360" y="676656"/>
            <a:ext cx="10972800" cy="713232"/>
          </a:xfrm>
          <a:prstGeom prst="rect">
            <a:avLst/>
          </a:prstGeom>
          <a:noFill/>
          <a:ln/>
        </p:spPr>
        <p:txBody>
          <a:bodyPr wrap="square" lIns="0" tIns="0" rIns="0" bIns="0" rtlCol="0" anchor="ctr"/>
          <a:lstStyle/>
          <a:p>
            <a:pPr indent="0" marL="0">
              <a:buNone/>
            </a:pPr>
            <a:r>
              <a:rPr lang="en-US" sz="2600" b="1" dirty="0">
                <a:solidFill>
                  <a:srgbClr val="0F172A"/>
                </a:solidFill>
                <a:latin typeface="Cambria" pitchFamily="34" charset="0"/>
                <a:ea typeface="Cambria" pitchFamily="34" charset="-122"/>
                <a:cs typeface="Cambria" pitchFamily="34" charset="-120"/>
              </a:rPr>
              <a:t>Three refinements reuse the same building blocks</a:t>
            </a:r>
            <a:endParaRPr lang="en-US" sz="2600" dirty="0"/>
          </a:p>
        </p:txBody>
      </p:sp>
      <p:pic>
        <p:nvPicPr>
          <p:cNvPr id="4" name="Image 0" descr="fig_arch_variants.png">    </p:cNvPr>
          <p:cNvPicPr>
            <a:picLocks noChangeAspect="1"/>
          </p:cNvPicPr>
          <p:nvPr/>
        </p:nvPicPr>
        <p:blipFill>
          <a:blip r:embed="rId1"/>
          <a:stretch>
            <a:fillRect/>
          </a:stretch>
        </p:blipFill>
        <p:spPr>
          <a:xfrm>
            <a:off x="2072168" y="1554480"/>
            <a:ext cx="8017185" cy="3931920"/>
          </a:xfrm>
          <a:prstGeom prst="rect">
            <a:avLst/>
          </a:prstGeom>
        </p:spPr>
      </p:pic>
      <p:sp>
        <p:nvSpPr>
          <p:cNvPr id="5" name="Shape 2"/>
          <p:cNvSpPr/>
          <p:nvPr/>
        </p:nvSpPr>
        <p:spPr>
          <a:xfrm>
            <a:off x="594360" y="5650992"/>
            <a:ext cx="10972800" cy="877824"/>
          </a:xfrm>
          <a:prstGeom prst="roundRect">
            <a:avLst>
              <a:gd name="adj" fmla="val 9375"/>
            </a:avLst>
          </a:prstGeom>
          <a:solidFill>
            <a:srgbClr val="EEF6F6"/>
          </a:solidFill>
          <a:ln/>
          <a:effectLst>
            <a:outerShdw sx="100000" sy="100000" kx="0" ky="0" algn="bl" rotWithShape="0" blurRad="114300" dist="38100" dir="5400000">
              <a:srgbClr val="0B3B45">
                <a:alpha val="14000"/>
              </a:srgbClr>
            </a:outerShdw>
          </a:effectLst>
        </p:spPr>
      </p:sp>
      <p:sp>
        <p:nvSpPr>
          <p:cNvPr id="6" name="Text 3"/>
          <p:cNvSpPr/>
          <p:nvPr/>
        </p:nvSpPr>
        <p:spPr>
          <a:xfrm>
            <a:off x="822960" y="5650992"/>
            <a:ext cx="10515600" cy="877824"/>
          </a:xfrm>
          <a:prstGeom prst="rect">
            <a:avLst/>
          </a:prstGeom>
          <a:noFill/>
          <a:ln/>
        </p:spPr>
        <p:txBody>
          <a:bodyPr wrap="square" lIns="0" tIns="0" rIns="0" bIns="0" rtlCol="0" anchor="ctr"/>
          <a:lstStyle/>
          <a:p>
            <a:pPr indent="0" marL="0">
              <a:lnSpc>
                <a:spcPct val="102000"/>
              </a:lnSpc>
              <a:buNone/>
            </a:pPr>
            <a:r>
              <a:rPr lang="en-US" sz="1350" b="1" dirty="0">
                <a:solidFill>
                  <a:srgbClr val="0D7D87"/>
                </a:solidFill>
                <a:latin typeface="Calibri" pitchFamily="34" charset="0"/>
                <a:ea typeface="Calibri" pitchFamily="34" charset="-122"/>
                <a:cs typeface="Calibri" pitchFamily="34" charset="-120"/>
              </a:rPr>
              <a:t>Same parts, recombined.  </a:t>
            </a:r>
            <a:pPr indent="0" marL="0">
              <a:lnSpc>
                <a:spcPct val="102000"/>
              </a:lnSpc>
              <a:buNone/>
            </a:pPr>
            <a:r>
              <a:rPr lang="en-US" sz="1350" dirty="0">
                <a:solidFill>
                  <a:srgbClr val="0F172A"/>
                </a:solidFill>
                <a:latin typeface="Calibri" pitchFamily="34" charset="0"/>
                <a:ea typeface="Calibri" pitchFamily="34" charset="-122"/>
                <a:cs typeface="Calibri" pitchFamily="34" charset="-120"/>
              </a:rPr>
              <a:t>Attention-MIL pools the windows separately and exposes which one mattered; reranking sharpens the evidence; calibrated fusion combines the encoder and CoT — conditionally, not by a scalar blend.</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292608"/>
          </a:xfrm>
          <a:prstGeom prst="rect">
            <a:avLst/>
          </a:prstGeom>
          <a:noFill/>
          <a:ln/>
        </p:spPr>
        <p:txBody>
          <a:bodyPr wrap="square" lIns="0" tIns="0" rIns="0" bIns="0" rtlCol="0" anchor="ctr"/>
          <a:lstStyle/>
          <a:p>
            <a:pPr indent="0" marL="0">
              <a:buNone/>
            </a:pPr>
            <a:r>
              <a:rPr lang="en-US" sz="1250" b="1" spc="200" kern="0" dirty="0">
                <a:solidFill>
                  <a:srgbClr val="0D7D87"/>
                </a:solidFill>
                <a:latin typeface="Calibri" pitchFamily="34" charset="0"/>
                <a:ea typeface="Calibri" pitchFamily="34" charset="-122"/>
                <a:cs typeface="Calibri" pitchFamily="34" charset="-120"/>
              </a:rPr>
              <a:t>PART 1 · WHAT DRIVES PERFORMANCE</a:t>
            </a:r>
            <a:endParaRPr lang="en-US" sz="1250" dirty="0"/>
          </a:p>
        </p:txBody>
      </p:sp>
      <p:sp>
        <p:nvSpPr>
          <p:cNvPr id="3" name="Text 1"/>
          <p:cNvSpPr/>
          <p:nvPr/>
        </p:nvSpPr>
        <p:spPr>
          <a:xfrm>
            <a:off x="594360" y="676656"/>
            <a:ext cx="10972800" cy="713232"/>
          </a:xfrm>
          <a:prstGeom prst="rect">
            <a:avLst/>
          </a:prstGeom>
          <a:noFill/>
          <a:ln/>
        </p:spPr>
        <p:txBody>
          <a:bodyPr wrap="square" lIns="0" tIns="0" rIns="0" bIns="0" rtlCol="0" anchor="ctr"/>
          <a:lstStyle/>
          <a:p>
            <a:pPr indent="0" marL="0">
              <a:buNone/>
            </a:pPr>
            <a:r>
              <a:rPr lang="en-US" sz="2600" b="1" dirty="0">
                <a:solidFill>
                  <a:srgbClr val="0F172A"/>
                </a:solidFill>
                <a:latin typeface="Cambria" pitchFamily="34" charset="0"/>
                <a:ea typeface="Cambria" pitchFamily="34" charset="-122"/>
                <a:cs typeface="Cambria" pitchFamily="34" charset="-120"/>
              </a:rPr>
              <a:t>The evidence is the hero — not the model</a:t>
            </a:r>
            <a:endParaRPr lang="en-US" sz="2600" dirty="0"/>
          </a:p>
        </p:txBody>
      </p:sp>
      <p:pic>
        <p:nvPicPr>
          <p:cNvPr id="4" name="Image 0" descr="fig1_retrieval_waterfall.png">    </p:cNvPr>
          <p:cNvPicPr>
            <a:picLocks noChangeAspect="1"/>
          </p:cNvPicPr>
          <p:nvPr/>
        </p:nvPicPr>
        <p:blipFill>
          <a:blip r:embed="rId1"/>
          <a:stretch>
            <a:fillRect/>
          </a:stretch>
        </p:blipFill>
        <p:spPr>
          <a:xfrm>
            <a:off x="2121225" y="1554480"/>
            <a:ext cx="7919070" cy="3840480"/>
          </a:xfrm>
          <a:prstGeom prst="rect">
            <a:avLst/>
          </a:prstGeom>
        </p:spPr>
      </p:pic>
      <p:sp>
        <p:nvSpPr>
          <p:cNvPr id="5" name="Shape 2"/>
          <p:cNvSpPr/>
          <p:nvPr/>
        </p:nvSpPr>
        <p:spPr>
          <a:xfrm>
            <a:off x="594360" y="5650992"/>
            <a:ext cx="10972800" cy="877824"/>
          </a:xfrm>
          <a:prstGeom prst="roundRect">
            <a:avLst>
              <a:gd name="adj" fmla="val 9375"/>
            </a:avLst>
          </a:prstGeom>
          <a:solidFill>
            <a:srgbClr val="EEF6F6"/>
          </a:solidFill>
          <a:ln/>
          <a:effectLst>
            <a:outerShdw sx="100000" sy="100000" kx="0" ky="0" algn="bl" rotWithShape="0" blurRad="114300" dist="38100" dir="5400000">
              <a:srgbClr val="0B3B45">
                <a:alpha val="14000"/>
              </a:srgbClr>
            </a:outerShdw>
          </a:effectLst>
        </p:spPr>
      </p:sp>
      <p:sp>
        <p:nvSpPr>
          <p:cNvPr id="6" name="Text 3"/>
          <p:cNvSpPr/>
          <p:nvPr/>
        </p:nvSpPr>
        <p:spPr>
          <a:xfrm>
            <a:off x="822960" y="5650992"/>
            <a:ext cx="10515600" cy="877824"/>
          </a:xfrm>
          <a:prstGeom prst="rect">
            <a:avLst/>
          </a:prstGeom>
          <a:noFill/>
          <a:ln/>
        </p:spPr>
        <p:txBody>
          <a:bodyPr wrap="square" lIns="0" tIns="0" rIns="0" bIns="0" rtlCol="0" anchor="ctr"/>
          <a:lstStyle/>
          <a:p>
            <a:pPr indent="0" marL="0">
              <a:lnSpc>
                <a:spcPct val="102000"/>
              </a:lnSpc>
              <a:buNone/>
            </a:pPr>
            <a:r>
              <a:rPr lang="en-US" sz="1350" b="1" dirty="0">
                <a:solidFill>
                  <a:srgbClr val="0D7D87"/>
                </a:solidFill>
                <a:latin typeface="Calibri" pitchFamily="34" charset="0"/>
                <a:ea typeface="Calibri" pitchFamily="34" charset="-122"/>
                <a:cs typeface="Calibri" pitchFamily="34" charset="-120"/>
              </a:rPr>
              <a:t>Takeaway.  </a:t>
            </a:r>
            <a:pPr indent="0" marL="0">
              <a:lnSpc>
                <a:spcPct val="102000"/>
              </a:lnSpc>
              <a:buNone/>
            </a:pPr>
            <a:r>
              <a:rPr lang="en-US" sz="1350" dirty="0">
                <a:solidFill>
                  <a:srgbClr val="0F172A"/>
                </a:solidFill>
                <a:latin typeface="Calibri" pitchFamily="34" charset="0"/>
                <a:ea typeface="Calibri" pitchFamily="34" charset="-122"/>
                <a:cs typeface="Calibri" pitchFamily="34" charset="-120"/>
              </a:rPr>
              <a:t>Same encoder, same loss — only the retrieved evidence changes. Lexical windows barely help; </a:t>
            </a:r>
            <a:pPr indent="0" marL="0">
              <a:lnSpc>
                <a:spcPct val="102000"/>
              </a:lnSpc>
              <a:buNone/>
            </a:pPr>
            <a:r>
              <a:rPr lang="en-US" sz="1350" b="1" dirty="0">
                <a:solidFill>
                  <a:srgbClr val="0F172A"/>
                </a:solidFill>
                <a:latin typeface="Calibri" pitchFamily="34" charset="0"/>
                <a:ea typeface="Calibri" pitchFamily="34" charset="-122"/>
                <a:cs typeface="Calibri" pitchFamily="34" charset="-120"/>
              </a:rPr>
              <a:t>semantic hybrid retrieval lifts total-score agreement 6.5× (QWK 0.074 → 0.485).</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292608"/>
          </a:xfrm>
          <a:prstGeom prst="rect">
            <a:avLst/>
          </a:prstGeom>
          <a:noFill/>
          <a:ln/>
        </p:spPr>
        <p:txBody>
          <a:bodyPr wrap="square" lIns="0" tIns="0" rIns="0" bIns="0" rtlCol="0" anchor="ctr"/>
          <a:lstStyle/>
          <a:p>
            <a:pPr indent="0" marL="0">
              <a:buNone/>
            </a:pPr>
            <a:r>
              <a:rPr lang="en-US" sz="1250" b="1" spc="200" kern="0" dirty="0">
                <a:solidFill>
                  <a:srgbClr val="0D7D87"/>
                </a:solidFill>
                <a:latin typeface="Calibri" pitchFamily="34" charset="0"/>
                <a:ea typeface="Calibri" pitchFamily="34" charset="-122"/>
                <a:cs typeface="Calibri" pitchFamily="34" charset="-120"/>
              </a:rPr>
              <a:t>PART 1 · WHAT DRIVES PERFORMANCE</a:t>
            </a:r>
            <a:endParaRPr lang="en-US" sz="1250" dirty="0"/>
          </a:p>
        </p:txBody>
      </p:sp>
      <p:sp>
        <p:nvSpPr>
          <p:cNvPr id="3" name="Text 1"/>
          <p:cNvSpPr/>
          <p:nvPr/>
        </p:nvSpPr>
        <p:spPr>
          <a:xfrm>
            <a:off x="594360" y="676656"/>
            <a:ext cx="10972800" cy="713232"/>
          </a:xfrm>
          <a:prstGeom prst="rect">
            <a:avLst/>
          </a:prstGeom>
          <a:noFill/>
          <a:ln/>
        </p:spPr>
        <p:txBody>
          <a:bodyPr wrap="square" lIns="0" tIns="0" rIns="0" bIns="0" rtlCol="0" anchor="ctr"/>
          <a:lstStyle/>
          <a:p>
            <a:pPr indent="0" marL="0">
              <a:buNone/>
            </a:pPr>
            <a:r>
              <a:rPr lang="en-US" sz="2600" b="1" dirty="0">
                <a:solidFill>
                  <a:srgbClr val="0F172A"/>
                </a:solidFill>
                <a:latin typeface="Cambria" pitchFamily="34" charset="0"/>
                <a:ea typeface="Cambria" pitchFamily="34" charset="-122"/>
                <a:cs typeface="Cambria" pitchFamily="34" charset="-120"/>
              </a:rPr>
              <a:t>The model is almost always almost right</a:t>
            </a:r>
            <a:endParaRPr lang="en-US" sz="2600" dirty="0"/>
          </a:p>
        </p:txBody>
      </p:sp>
      <p:pic>
        <p:nvPicPr>
          <p:cNvPr id="4" name="Image 0" descr="fig2_ordinal_nearmiss.png">    </p:cNvPr>
          <p:cNvPicPr>
            <a:picLocks noChangeAspect="1"/>
          </p:cNvPicPr>
          <p:nvPr/>
        </p:nvPicPr>
        <p:blipFill>
          <a:blip r:embed="rId1"/>
          <a:stretch>
            <a:fillRect/>
          </a:stretch>
        </p:blipFill>
        <p:spPr>
          <a:xfrm>
            <a:off x="1572036" y="1554480"/>
            <a:ext cx="9017447" cy="3840480"/>
          </a:xfrm>
          <a:prstGeom prst="rect">
            <a:avLst/>
          </a:prstGeom>
        </p:spPr>
      </p:pic>
      <p:sp>
        <p:nvSpPr>
          <p:cNvPr id="5" name="Shape 2"/>
          <p:cNvSpPr/>
          <p:nvPr/>
        </p:nvSpPr>
        <p:spPr>
          <a:xfrm>
            <a:off x="594360" y="5650992"/>
            <a:ext cx="10972800" cy="877824"/>
          </a:xfrm>
          <a:prstGeom prst="roundRect">
            <a:avLst>
              <a:gd name="adj" fmla="val 9375"/>
            </a:avLst>
          </a:prstGeom>
          <a:solidFill>
            <a:srgbClr val="EEF6F6"/>
          </a:solidFill>
          <a:ln/>
          <a:effectLst>
            <a:outerShdw sx="100000" sy="100000" kx="0" ky="0" algn="bl" rotWithShape="0" blurRad="114300" dist="38100" dir="5400000">
              <a:srgbClr val="0B3B45">
                <a:alpha val="14000"/>
              </a:srgbClr>
            </a:outerShdw>
          </a:effectLst>
        </p:spPr>
      </p:sp>
      <p:sp>
        <p:nvSpPr>
          <p:cNvPr id="6" name="Text 3"/>
          <p:cNvSpPr/>
          <p:nvPr/>
        </p:nvSpPr>
        <p:spPr>
          <a:xfrm>
            <a:off x="822960" y="5650992"/>
            <a:ext cx="10515600" cy="877824"/>
          </a:xfrm>
          <a:prstGeom prst="rect">
            <a:avLst/>
          </a:prstGeom>
          <a:noFill/>
          <a:ln/>
        </p:spPr>
        <p:txBody>
          <a:bodyPr wrap="square" lIns="0" tIns="0" rIns="0" bIns="0" rtlCol="0" anchor="ctr"/>
          <a:lstStyle/>
          <a:p>
            <a:pPr indent="0" marL="0">
              <a:lnSpc>
                <a:spcPct val="102000"/>
              </a:lnSpc>
              <a:buNone/>
            </a:pPr>
            <a:r>
              <a:rPr lang="en-US" sz="1350" b="1" dirty="0">
                <a:solidFill>
                  <a:srgbClr val="0D7D87"/>
                </a:solidFill>
                <a:latin typeface="Calibri" pitchFamily="34" charset="0"/>
                <a:ea typeface="Calibri" pitchFamily="34" charset="-122"/>
                <a:cs typeface="Calibri" pitchFamily="34" charset="-120"/>
              </a:rPr>
              <a:t>Takeaway.  </a:t>
            </a:r>
            <a:pPr indent="0" marL="0">
              <a:lnSpc>
                <a:spcPct val="102000"/>
              </a:lnSpc>
              <a:buNone/>
            </a:pPr>
            <a:r>
              <a:rPr lang="en-US" sz="1350" dirty="0">
                <a:solidFill>
                  <a:srgbClr val="0F172A"/>
                </a:solidFill>
                <a:latin typeface="Calibri" pitchFamily="34" charset="0"/>
                <a:ea typeface="Calibri" pitchFamily="34" charset="-122"/>
                <a:cs typeface="Calibri" pitchFamily="34" charset="-120"/>
              </a:rPr>
              <a:t>Exact accuracy (~45%) understates an ordinally coherent model: </a:t>
            </a:r>
            <a:pPr indent="0" marL="0">
              <a:lnSpc>
                <a:spcPct val="102000"/>
              </a:lnSpc>
              <a:buNone/>
            </a:pPr>
            <a:r>
              <a:rPr lang="en-US" sz="1350" b="1" dirty="0">
                <a:solidFill>
                  <a:srgbClr val="0F172A"/>
                </a:solidFill>
                <a:latin typeface="Calibri" pitchFamily="34" charset="0"/>
                <a:ea typeface="Calibri" pitchFamily="34" charset="-122"/>
                <a:cs typeface="Calibri" pitchFamily="34" charset="-120"/>
              </a:rPr>
              <a:t>88% of predictions are within one severity level</a:t>
            </a:r>
            <a:pPr indent="0" marL="0">
              <a:lnSpc>
                <a:spcPct val="102000"/>
              </a:lnSpc>
              <a:buNone/>
            </a:pPr>
            <a:r>
              <a:rPr lang="en-US" sz="1350" dirty="0">
                <a:solidFill>
                  <a:srgbClr val="0F172A"/>
                </a:solidFill>
                <a:latin typeface="Calibri" pitchFamily="34" charset="0"/>
                <a:ea typeface="Calibri" pitchFamily="34" charset="-122"/>
                <a:cs typeface="Calibri" pitchFamily="34" charset="-120"/>
              </a:rPr>
              <a:t> and minimal↔severe confusions are ≈ 0. The honest weak spot is under-calling severe.</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292608"/>
          </a:xfrm>
          <a:prstGeom prst="rect">
            <a:avLst/>
          </a:prstGeom>
          <a:noFill/>
          <a:ln/>
        </p:spPr>
        <p:txBody>
          <a:bodyPr wrap="square" lIns="0" tIns="0" rIns="0" bIns="0" rtlCol="0" anchor="ctr"/>
          <a:lstStyle/>
          <a:p>
            <a:pPr indent="0" marL="0">
              <a:buNone/>
            </a:pPr>
            <a:r>
              <a:rPr lang="en-US" sz="1250" b="1" spc="200" kern="0" dirty="0">
                <a:solidFill>
                  <a:srgbClr val="0D7D87"/>
                </a:solidFill>
                <a:latin typeface="Calibri" pitchFamily="34" charset="0"/>
                <a:ea typeface="Calibri" pitchFamily="34" charset="-122"/>
                <a:cs typeface="Calibri" pitchFamily="34" charset="-120"/>
              </a:rPr>
              <a:t>PART 1 · WHAT DRIVES PERFORMANCE</a:t>
            </a:r>
            <a:endParaRPr lang="en-US" sz="1250" dirty="0"/>
          </a:p>
        </p:txBody>
      </p:sp>
      <p:sp>
        <p:nvSpPr>
          <p:cNvPr id="3" name="Text 1"/>
          <p:cNvSpPr/>
          <p:nvPr/>
        </p:nvSpPr>
        <p:spPr>
          <a:xfrm>
            <a:off x="594360" y="676656"/>
            <a:ext cx="10972800" cy="713232"/>
          </a:xfrm>
          <a:prstGeom prst="rect">
            <a:avLst/>
          </a:prstGeom>
          <a:noFill/>
          <a:ln/>
        </p:spPr>
        <p:txBody>
          <a:bodyPr wrap="square" lIns="0" tIns="0" rIns="0" bIns="0" rtlCol="0" anchor="ctr"/>
          <a:lstStyle/>
          <a:p>
            <a:pPr indent="0" marL="0">
              <a:buNone/>
            </a:pPr>
            <a:r>
              <a:rPr lang="en-US" sz="2600" b="1" dirty="0">
                <a:solidFill>
                  <a:srgbClr val="0F172A"/>
                </a:solidFill>
                <a:latin typeface="Cambria" pitchFamily="34" charset="0"/>
                <a:ea typeface="Cambria" pitchFamily="34" charset="-122"/>
                <a:cs typeface="Cambria" pitchFamily="34" charset="-120"/>
              </a:rPr>
              <a:t>Good evidence is necessary, not sufficient</a:t>
            </a:r>
            <a:endParaRPr lang="en-US" sz="2600" dirty="0"/>
          </a:p>
        </p:txBody>
      </p:sp>
      <p:pic>
        <p:nvPicPr>
          <p:cNvPr id="4" name="Image 0" descr="fig3_evidence_quality_map.png">    </p:cNvPr>
          <p:cNvPicPr>
            <a:picLocks noChangeAspect="1"/>
          </p:cNvPicPr>
          <p:nvPr/>
        </p:nvPicPr>
        <p:blipFill>
          <a:blip r:embed="rId1"/>
          <a:stretch>
            <a:fillRect/>
          </a:stretch>
        </p:blipFill>
        <p:spPr>
          <a:xfrm>
            <a:off x="2854757" y="1554480"/>
            <a:ext cx="6452006" cy="3840480"/>
          </a:xfrm>
          <a:prstGeom prst="rect">
            <a:avLst/>
          </a:prstGeom>
        </p:spPr>
      </p:pic>
      <p:sp>
        <p:nvSpPr>
          <p:cNvPr id="5" name="Shape 2"/>
          <p:cNvSpPr/>
          <p:nvPr/>
        </p:nvSpPr>
        <p:spPr>
          <a:xfrm>
            <a:off x="594360" y="5650992"/>
            <a:ext cx="10972800" cy="877824"/>
          </a:xfrm>
          <a:prstGeom prst="roundRect">
            <a:avLst>
              <a:gd name="adj" fmla="val 9375"/>
            </a:avLst>
          </a:prstGeom>
          <a:solidFill>
            <a:srgbClr val="EEF6F6"/>
          </a:solidFill>
          <a:ln/>
          <a:effectLst>
            <a:outerShdw sx="100000" sy="100000" kx="0" ky="0" algn="bl" rotWithShape="0" blurRad="114300" dist="38100" dir="5400000">
              <a:srgbClr val="0B3B45">
                <a:alpha val="14000"/>
              </a:srgbClr>
            </a:outerShdw>
          </a:effectLst>
        </p:spPr>
      </p:sp>
      <p:sp>
        <p:nvSpPr>
          <p:cNvPr id="6" name="Text 3"/>
          <p:cNvSpPr/>
          <p:nvPr/>
        </p:nvSpPr>
        <p:spPr>
          <a:xfrm>
            <a:off x="822960" y="5650992"/>
            <a:ext cx="10515600" cy="877824"/>
          </a:xfrm>
          <a:prstGeom prst="rect">
            <a:avLst/>
          </a:prstGeom>
          <a:noFill/>
          <a:ln/>
        </p:spPr>
        <p:txBody>
          <a:bodyPr wrap="square" lIns="0" tIns="0" rIns="0" bIns="0" rtlCol="0" anchor="ctr"/>
          <a:lstStyle/>
          <a:p>
            <a:pPr indent="0" marL="0">
              <a:lnSpc>
                <a:spcPct val="102000"/>
              </a:lnSpc>
              <a:buNone/>
            </a:pPr>
            <a:r>
              <a:rPr lang="en-US" sz="1350" b="1" dirty="0">
                <a:solidFill>
                  <a:srgbClr val="0D7D87"/>
                </a:solidFill>
                <a:latin typeface="Calibri" pitchFamily="34" charset="0"/>
                <a:ea typeface="Calibri" pitchFamily="34" charset="-122"/>
                <a:cs typeface="Calibri" pitchFamily="34" charset="-120"/>
              </a:rPr>
              <a:t>Takeaway.  </a:t>
            </a:r>
            <a:pPr indent="0" marL="0">
              <a:lnSpc>
                <a:spcPct val="102000"/>
              </a:lnSpc>
              <a:buNone/>
            </a:pPr>
            <a:r>
              <a:rPr lang="en-US" sz="1350" dirty="0">
                <a:solidFill>
                  <a:srgbClr val="0F172A"/>
                </a:solidFill>
                <a:latin typeface="Calibri" pitchFamily="34" charset="0"/>
                <a:ea typeface="Calibri" pitchFamily="34" charset="-122"/>
                <a:cs typeface="Calibri" pitchFamily="34" charset="-120"/>
              </a:rPr>
              <a:t>Evidence presence ≠ predictability (r = −0.30). ‘Moving’ looks easy only through class imbalance; ‘Sleep’ stays hard despite rich on-topic evidence — symptom difficulty is intrinsic.</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292608"/>
          </a:xfrm>
          <a:prstGeom prst="rect">
            <a:avLst/>
          </a:prstGeom>
          <a:noFill/>
          <a:ln/>
        </p:spPr>
        <p:txBody>
          <a:bodyPr wrap="square" lIns="0" tIns="0" rIns="0" bIns="0" rtlCol="0" anchor="ctr"/>
          <a:lstStyle/>
          <a:p>
            <a:pPr indent="0" marL="0">
              <a:buNone/>
            </a:pPr>
            <a:r>
              <a:rPr lang="en-US" sz="1250" b="1" spc="200" kern="0" dirty="0">
                <a:solidFill>
                  <a:srgbClr val="0D7D87"/>
                </a:solidFill>
                <a:latin typeface="Calibri" pitchFamily="34" charset="0"/>
                <a:ea typeface="Calibri" pitchFamily="34" charset="-122"/>
                <a:cs typeface="Calibri" pitchFamily="34" charset="-120"/>
              </a:rPr>
              <a:t>PART 2 · TWO PARADIGMS</a:t>
            </a:r>
            <a:endParaRPr lang="en-US" sz="1250" dirty="0"/>
          </a:p>
        </p:txBody>
      </p:sp>
      <p:sp>
        <p:nvSpPr>
          <p:cNvPr id="3" name="Text 1"/>
          <p:cNvSpPr/>
          <p:nvPr/>
        </p:nvSpPr>
        <p:spPr>
          <a:xfrm>
            <a:off x="594360" y="676656"/>
            <a:ext cx="10972800" cy="713232"/>
          </a:xfrm>
          <a:prstGeom prst="rect">
            <a:avLst/>
          </a:prstGeom>
          <a:noFill/>
          <a:ln/>
        </p:spPr>
        <p:txBody>
          <a:bodyPr wrap="square" lIns="0" tIns="0" rIns="0" bIns="0" rtlCol="0" anchor="ctr"/>
          <a:lstStyle/>
          <a:p>
            <a:pPr indent="0" marL="0">
              <a:buNone/>
            </a:pPr>
            <a:r>
              <a:rPr lang="en-US" sz="2600" b="1" dirty="0">
                <a:solidFill>
                  <a:srgbClr val="0F172A"/>
                </a:solidFill>
                <a:latin typeface="Cambria" pitchFamily="34" charset="0"/>
                <a:ea typeface="Cambria" pitchFamily="34" charset="-122"/>
                <a:cs typeface="Cambria" pitchFamily="34" charset="-120"/>
              </a:rPr>
              <a:t>Two minds, different routes</a:t>
            </a:r>
            <a:endParaRPr lang="en-US" sz="2600" dirty="0"/>
          </a:p>
        </p:txBody>
      </p:sp>
      <p:pic>
        <p:nvPicPr>
          <p:cNvPr id="4" name="Image 0" descr="fig4_cot_complementarity.png">    </p:cNvPr>
          <p:cNvPicPr>
            <a:picLocks noChangeAspect="1"/>
          </p:cNvPicPr>
          <p:nvPr/>
        </p:nvPicPr>
        <p:blipFill>
          <a:blip r:embed="rId1"/>
          <a:stretch>
            <a:fillRect/>
          </a:stretch>
        </p:blipFill>
        <p:spPr>
          <a:xfrm>
            <a:off x="1614282" y="1554480"/>
            <a:ext cx="8932956" cy="3840480"/>
          </a:xfrm>
          <a:prstGeom prst="rect">
            <a:avLst/>
          </a:prstGeom>
        </p:spPr>
      </p:pic>
      <p:sp>
        <p:nvSpPr>
          <p:cNvPr id="5" name="Shape 2"/>
          <p:cNvSpPr/>
          <p:nvPr/>
        </p:nvSpPr>
        <p:spPr>
          <a:xfrm>
            <a:off x="594360" y="5650992"/>
            <a:ext cx="10972800" cy="877824"/>
          </a:xfrm>
          <a:prstGeom prst="roundRect">
            <a:avLst>
              <a:gd name="adj" fmla="val 9375"/>
            </a:avLst>
          </a:prstGeom>
          <a:solidFill>
            <a:srgbClr val="EEF6F6"/>
          </a:solidFill>
          <a:ln/>
          <a:effectLst>
            <a:outerShdw sx="100000" sy="100000" kx="0" ky="0" algn="bl" rotWithShape="0" blurRad="114300" dist="38100" dir="5400000">
              <a:srgbClr val="0B3B45">
                <a:alpha val="14000"/>
              </a:srgbClr>
            </a:outerShdw>
          </a:effectLst>
        </p:spPr>
      </p:sp>
      <p:sp>
        <p:nvSpPr>
          <p:cNvPr id="6" name="Text 3"/>
          <p:cNvSpPr/>
          <p:nvPr/>
        </p:nvSpPr>
        <p:spPr>
          <a:xfrm>
            <a:off x="822960" y="5650992"/>
            <a:ext cx="10515600" cy="877824"/>
          </a:xfrm>
          <a:prstGeom prst="rect">
            <a:avLst/>
          </a:prstGeom>
          <a:noFill/>
          <a:ln/>
        </p:spPr>
        <p:txBody>
          <a:bodyPr wrap="square" lIns="0" tIns="0" rIns="0" bIns="0" rtlCol="0" anchor="ctr"/>
          <a:lstStyle/>
          <a:p>
            <a:pPr indent="0" marL="0">
              <a:lnSpc>
                <a:spcPct val="102000"/>
              </a:lnSpc>
              <a:buNone/>
            </a:pPr>
            <a:r>
              <a:rPr lang="en-US" sz="1350" b="1" dirty="0">
                <a:solidFill>
                  <a:srgbClr val="0D7D87"/>
                </a:solidFill>
                <a:latin typeface="Calibri" pitchFamily="34" charset="0"/>
                <a:ea typeface="Calibri" pitchFamily="34" charset="-122"/>
                <a:cs typeface="Calibri" pitchFamily="34" charset="-120"/>
              </a:rPr>
              <a:t>Takeaway.  </a:t>
            </a:r>
            <a:pPr indent="0" marL="0">
              <a:lnSpc>
                <a:spcPct val="102000"/>
              </a:lnSpc>
              <a:buNone/>
            </a:pPr>
            <a:r>
              <a:rPr lang="en-US" sz="1350" dirty="0">
                <a:solidFill>
                  <a:srgbClr val="0F172A"/>
                </a:solidFill>
                <a:latin typeface="Calibri" pitchFamily="34" charset="0"/>
                <a:ea typeface="Calibri" pitchFamily="34" charset="-122"/>
                <a:cs typeface="Calibri" pitchFamily="34" charset="-120"/>
              </a:rPr>
              <a:t>A frozen LLM and the trained encoder agree only 45% of the time: </a:t>
            </a:r>
            <a:pPr indent="0" marL="0">
              <a:lnSpc>
                <a:spcPct val="102000"/>
              </a:lnSpc>
              <a:buNone/>
            </a:pPr>
            <a:r>
              <a:rPr lang="en-US" sz="1350" b="1" dirty="0">
                <a:solidFill>
                  <a:srgbClr val="0F172A"/>
                </a:solidFill>
                <a:latin typeface="Calibri" pitchFamily="34" charset="0"/>
                <a:ea typeface="Calibri" pitchFamily="34" charset="-122"/>
                <a:cs typeface="Calibri" pitchFamily="34" charset="-120"/>
              </a:rPr>
              <a:t>the encoder hedges to the middle, CoT commits to the extremes</a:t>
            </a:r>
            <a:pPr indent="0" marL="0">
              <a:lnSpc>
                <a:spcPct val="102000"/>
              </a:lnSpc>
              <a:buNone/>
            </a:pPr>
            <a:r>
              <a:rPr lang="en-US" sz="1350" dirty="0">
                <a:solidFill>
                  <a:srgbClr val="0F172A"/>
                </a:solidFill>
                <a:latin typeface="Calibri" pitchFamily="34" charset="0"/>
                <a:ea typeface="Calibri" pitchFamily="34" charset="-122"/>
                <a:cs typeface="Calibri" pitchFamily="34" charset="-120"/>
              </a:rPr>
              <a:t> and recovers the severe class (F1 0.16 → 0.30).</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292608"/>
          </a:xfrm>
          <a:prstGeom prst="rect">
            <a:avLst/>
          </a:prstGeom>
          <a:noFill/>
          <a:ln/>
        </p:spPr>
        <p:txBody>
          <a:bodyPr wrap="square" lIns="0" tIns="0" rIns="0" bIns="0" rtlCol="0" anchor="ctr"/>
          <a:lstStyle/>
          <a:p>
            <a:pPr indent="0" marL="0">
              <a:buNone/>
            </a:pPr>
            <a:r>
              <a:rPr lang="en-US" sz="1250" b="1" spc="200" kern="0" dirty="0">
                <a:solidFill>
                  <a:srgbClr val="0D7D87"/>
                </a:solidFill>
                <a:latin typeface="Calibri" pitchFamily="34" charset="0"/>
                <a:ea typeface="Calibri" pitchFamily="34" charset="-122"/>
                <a:cs typeface="Calibri" pitchFamily="34" charset="-120"/>
              </a:rPr>
              <a:t>PART 2 · TWO PARADIGMS</a:t>
            </a:r>
            <a:endParaRPr lang="en-US" sz="1250" dirty="0"/>
          </a:p>
        </p:txBody>
      </p:sp>
      <p:sp>
        <p:nvSpPr>
          <p:cNvPr id="3" name="Text 1"/>
          <p:cNvSpPr/>
          <p:nvPr/>
        </p:nvSpPr>
        <p:spPr>
          <a:xfrm>
            <a:off x="594360" y="676656"/>
            <a:ext cx="10972800" cy="713232"/>
          </a:xfrm>
          <a:prstGeom prst="rect">
            <a:avLst/>
          </a:prstGeom>
          <a:noFill/>
          <a:ln/>
        </p:spPr>
        <p:txBody>
          <a:bodyPr wrap="square" lIns="0" tIns="0" rIns="0" bIns="0" rtlCol="0" anchor="ctr"/>
          <a:lstStyle/>
          <a:p>
            <a:pPr indent="0" marL="0">
              <a:buNone/>
            </a:pPr>
            <a:r>
              <a:rPr lang="en-US" sz="2600" b="1" dirty="0">
                <a:solidFill>
                  <a:srgbClr val="0F172A"/>
                </a:solidFill>
                <a:latin typeface="Cambria" pitchFamily="34" charset="0"/>
                <a:ea typeface="Cambria" pitchFamily="34" charset="-122"/>
                <a:cs typeface="Cambria" pitchFamily="34" charset="-120"/>
              </a:rPr>
              <a:t>Inside the reasoning: the LLM explains its rating</a:t>
            </a:r>
            <a:endParaRPr lang="en-US" sz="2600" dirty="0"/>
          </a:p>
        </p:txBody>
      </p:sp>
      <p:sp>
        <p:nvSpPr>
          <p:cNvPr id="4" name="Shape 2"/>
          <p:cNvSpPr/>
          <p:nvPr/>
        </p:nvSpPr>
        <p:spPr>
          <a:xfrm>
            <a:off x="594360" y="1481328"/>
            <a:ext cx="10972800" cy="1280160"/>
          </a:xfrm>
          <a:prstGeom prst="roundRect">
            <a:avLst>
              <a:gd name="adj" fmla="val 5000"/>
            </a:avLst>
          </a:prstGeom>
          <a:solidFill>
            <a:srgbClr val="EEF6F6"/>
          </a:solidFill>
          <a:ln/>
          <a:effectLst>
            <a:outerShdw sx="100000" sy="100000" kx="0" ky="0" algn="bl" rotWithShape="0" blurRad="114300" dist="38100" dir="5400000">
              <a:srgbClr val="0B3B45">
                <a:alpha val="14000"/>
              </a:srgbClr>
            </a:outerShdw>
          </a:effectLst>
        </p:spPr>
      </p:sp>
      <p:sp>
        <p:nvSpPr>
          <p:cNvPr id="5" name="Text 3"/>
          <p:cNvSpPr/>
          <p:nvPr/>
        </p:nvSpPr>
        <p:spPr>
          <a:xfrm>
            <a:off x="822960" y="1627632"/>
            <a:ext cx="2377440" cy="274320"/>
          </a:xfrm>
          <a:prstGeom prst="rect">
            <a:avLst/>
          </a:prstGeom>
          <a:noFill/>
          <a:ln/>
        </p:spPr>
        <p:txBody>
          <a:bodyPr wrap="square" lIns="0" tIns="0" rIns="0" bIns="0" rtlCol="0" anchor="ctr"/>
          <a:lstStyle/>
          <a:p>
            <a:pPr indent="0" marL="0">
              <a:buNone/>
            </a:pPr>
            <a:r>
              <a:rPr lang="en-US" sz="1050" b="1" spc="100" kern="0" dirty="0">
                <a:solidFill>
                  <a:srgbClr val="16A34A"/>
                </a:solidFill>
                <a:latin typeface="Calibri" pitchFamily="34" charset="0"/>
                <a:ea typeface="Calibri" pitchFamily="34" charset="-122"/>
                <a:cs typeface="Calibri" pitchFamily="34" charset="-120"/>
              </a:rPr>
              <a:t>SEVERE — RESCUED</a:t>
            </a:r>
            <a:endParaRPr lang="en-US" sz="1050" dirty="0"/>
          </a:p>
        </p:txBody>
      </p:sp>
      <p:sp>
        <p:nvSpPr>
          <p:cNvPr id="6" name="Text 4"/>
          <p:cNvSpPr/>
          <p:nvPr/>
        </p:nvSpPr>
        <p:spPr>
          <a:xfrm>
            <a:off x="822960" y="1883664"/>
            <a:ext cx="2926080" cy="365760"/>
          </a:xfrm>
          <a:prstGeom prst="rect">
            <a:avLst/>
          </a:prstGeom>
          <a:noFill/>
          <a:ln/>
        </p:spPr>
        <p:txBody>
          <a:bodyPr wrap="square" lIns="0" tIns="0" rIns="0" bIns="0" rtlCol="0" anchor="ctr"/>
          <a:lstStyle/>
          <a:p>
            <a:pPr indent="0" marL="0">
              <a:buNone/>
            </a:pPr>
            <a:r>
              <a:rPr lang="en-US" sz="1600" b="1" dirty="0">
                <a:solidFill>
                  <a:srgbClr val="0F172A"/>
                </a:solidFill>
                <a:latin typeface="Cambria" pitchFamily="34" charset="0"/>
                <a:ea typeface="Cambria" pitchFamily="34" charset="-122"/>
                <a:cs typeface="Cambria" pitchFamily="34" charset="-120"/>
              </a:rPr>
              <a:t>PHQ-8 · Depressed</a:t>
            </a:r>
            <a:endParaRPr lang="en-US" sz="1600" dirty="0"/>
          </a:p>
        </p:txBody>
      </p:sp>
      <p:sp>
        <p:nvSpPr>
          <p:cNvPr id="7" name="Text 5"/>
          <p:cNvSpPr/>
          <p:nvPr/>
        </p:nvSpPr>
        <p:spPr>
          <a:xfrm>
            <a:off x="822960" y="2350008"/>
            <a:ext cx="2743200" cy="292608"/>
          </a:xfrm>
          <a:prstGeom prst="rect">
            <a:avLst/>
          </a:prstGeom>
          <a:noFill/>
          <a:ln/>
        </p:spPr>
        <p:txBody>
          <a:bodyPr wrap="square" lIns="0" tIns="0" rIns="0" bIns="0" rtlCol="0" anchor="ctr"/>
          <a:lstStyle/>
          <a:p>
            <a:pPr indent="0" marL="0">
              <a:buNone/>
            </a:pPr>
            <a:r>
              <a:rPr lang="en-US" sz="1250" dirty="0">
                <a:solidFill>
                  <a:srgbClr val="5B7079"/>
                </a:solidFill>
                <a:latin typeface="Calibri" pitchFamily="34" charset="0"/>
                <a:ea typeface="Calibri" pitchFamily="34" charset="-122"/>
                <a:cs typeface="Calibri" pitchFamily="34" charset="-120"/>
              </a:rPr>
              <a:t>True </a:t>
            </a:r>
            <a:pPr indent="0" marL="0">
              <a:buNone/>
            </a:pPr>
            <a:r>
              <a:rPr lang="en-US" sz="1250" b="1" dirty="0">
                <a:solidFill>
                  <a:srgbClr val="0F172A"/>
                </a:solidFill>
                <a:latin typeface="Calibri" pitchFamily="34" charset="0"/>
                <a:ea typeface="Calibri" pitchFamily="34" charset="-122"/>
                <a:cs typeface="Calibri" pitchFamily="34" charset="-120"/>
              </a:rPr>
              <a:t>3</a:t>
            </a:r>
            <a:pPr indent="0" marL="0">
              <a:buNone/>
            </a:pPr>
            <a:r>
              <a:rPr lang="en-US" sz="1250" dirty="0">
                <a:solidFill>
                  <a:srgbClr val="5B7079"/>
                </a:solidFill>
                <a:latin typeface="Calibri" pitchFamily="34" charset="0"/>
                <a:ea typeface="Calibri" pitchFamily="34" charset="-122"/>
                <a:cs typeface="Calibri" pitchFamily="34" charset="-120"/>
              </a:rPr>
              <a:t>    CoT </a:t>
            </a:r>
            <a:pPr indent="0" marL="0">
              <a:buNone/>
            </a:pPr>
            <a:r>
              <a:rPr lang="en-US" sz="1250" b="1" dirty="0">
                <a:solidFill>
                  <a:srgbClr val="16A34A"/>
                </a:solidFill>
                <a:latin typeface="Calibri" pitchFamily="34" charset="0"/>
                <a:ea typeface="Calibri" pitchFamily="34" charset="-122"/>
                <a:cs typeface="Calibri" pitchFamily="34" charset="-120"/>
              </a:rPr>
              <a:t>3</a:t>
            </a:r>
            <a:pPr indent="0" marL="0">
              <a:buNone/>
            </a:pPr>
            <a:r>
              <a:rPr lang="en-US" sz="1250" dirty="0">
                <a:solidFill>
                  <a:srgbClr val="5B7079"/>
                </a:solidFill>
                <a:latin typeface="Calibri" pitchFamily="34" charset="0"/>
                <a:ea typeface="Calibri" pitchFamily="34" charset="-122"/>
                <a:cs typeface="Calibri" pitchFamily="34" charset="-120"/>
              </a:rPr>
              <a:t>    Enc </a:t>
            </a:r>
            <a:pPr indent="0" marL="0">
              <a:buNone/>
            </a:pPr>
            <a:r>
              <a:rPr lang="en-US" sz="1250" b="1" dirty="0">
                <a:solidFill>
                  <a:srgbClr val="0F172A"/>
                </a:solidFill>
                <a:latin typeface="Calibri" pitchFamily="34" charset="0"/>
                <a:ea typeface="Calibri" pitchFamily="34" charset="-122"/>
                <a:cs typeface="Calibri" pitchFamily="34" charset="-120"/>
              </a:rPr>
              <a:t>1</a:t>
            </a:r>
            <a:endParaRPr lang="en-US" sz="1250" dirty="0"/>
          </a:p>
        </p:txBody>
      </p:sp>
      <p:sp>
        <p:nvSpPr>
          <p:cNvPr id="8" name="Text 6"/>
          <p:cNvSpPr/>
          <p:nvPr/>
        </p:nvSpPr>
        <p:spPr>
          <a:xfrm>
            <a:off x="3886200" y="1627632"/>
            <a:ext cx="7406640" cy="987552"/>
          </a:xfrm>
          <a:prstGeom prst="rect">
            <a:avLst/>
          </a:prstGeom>
          <a:noFill/>
          <a:ln/>
        </p:spPr>
        <p:txBody>
          <a:bodyPr wrap="square" lIns="0" tIns="0" rIns="0" bIns="0" rtlCol="0" anchor="ctr"/>
          <a:lstStyle/>
          <a:p>
            <a:pPr indent="0" marL="0">
              <a:lnSpc>
                <a:spcPct val="103000"/>
              </a:lnSpc>
              <a:buNone/>
            </a:pPr>
            <a:r>
              <a:rPr lang="en-US" sz="1250" i="1" dirty="0">
                <a:solidFill>
                  <a:srgbClr val="0F172A"/>
                </a:solidFill>
                <a:latin typeface="Calibri" pitchFamily="34" charset="0"/>
                <a:ea typeface="Calibri" pitchFamily="34" charset="-122"/>
                <a:cs typeface="Calibri" pitchFamily="34" charset="-120"/>
              </a:rPr>
              <a:t>“Several snippets indicate persistent feelings of depression and hopelessness… ‘happy but then I went back to being’ — maps to nearly every day.”</a:t>
            </a:r>
            <a:endParaRPr lang="en-US" sz="1250" dirty="0"/>
          </a:p>
        </p:txBody>
      </p:sp>
      <p:sp>
        <p:nvSpPr>
          <p:cNvPr id="9" name="Shape 7"/>
          <p:cNvSpPr/>
          <p:nvPr/>
        </p:nvSpPr>
        <p:spPr>
          <a:xfrm>
            <a:off x="594360" y="3008376"/>
            <a:ext cx="10972800" cy="1280160"/>
          </a:xfrm>
          <a:prstGeom prst="roundRect">
            <a:avLst>
              <a:gd name="adj" fmla="val 5000"/>
            </a:avLst>
          </a:prstGeom>
          <a:solidFill>
            <a:srgbClr val="EEF6F6"/>
          </a:solidFill>
          <a:ln/>
          <a:effectLst>
            <a:outerShdw sx="100000" sy="100000" kx="0" ky="0" algn="bl" rotWithShape="0" blurRad="114300" dist="38100" dir="5400000">
              <a:srgbClr val="0B3B45">
                <a:alpha val="14000"/>
              </a:srgbClr>
            </a:outerShdw>
          </a:effectLst>
        </p:spPr>
      </p:sp>
      <p:sp>
        <p:nvSpPr>
          <p:cNvPr id="10" name="Text 8"/>
          <p:cNvSpPr/>
          <p:nvPr/>
        </p:nvSpPr>
        <p:spPr>
          <a:xfrm>
            <a:off x="822960" y="3154680"/>
            <a:ext cx="2377440" cy="274320"/>
          </a:xfrm>
          <a:prstGeom prst="rect">
            <a:avLst/>
          </a:prstGeom>
          <a:noFill/>
          <a:ln/>
        </p:spPr>
        <p:txBody>
          <a:bodyPr wrap="square" lIns="0" tIns="0" rIns="0" bIns="0" rtlCol="0" anchor="ctr"/>
          <a:lstStyle/>
          <a:p>
            <a:pPr indent="0" marL="0">
              <a:buNone/>
            </a:pPr>
            <a:r>
              <a:rPr lang="en-US" sz="1050" b="1" spc="100" kern="0" dirty="0">
                <a:solidFill>
                  <a:srgbClr val="16A34A"/>
                </a:solidFill>
                <a:latin typeface="Calibri" pitchFamily="34" charset="0"/>
                <a:ea typeface="Calibri" pitchFamily="34" charset="-122"/>
                <a:cs typeface="Calibri" pitchFamily="34" charset="-120"/>
              </a:rPr>
              <a:t>SEVERE — RESCUED</a:t>
            </a:r>
            <a:endParaRPr lang="en-US" sz="1050" dirty="0"/>
          </a:p>
        </p:txBody>
      </p:sp>
      <p:sp>
        <p:nvSpPr>
          <p:cNvPr id="11" name="Text 9"/>
          <p:cNvSpPr/>
          <p:nvPr/>
        </p:nvSpPr>
        <p:spPr>
          <a:xfrm>
            <a:off x="822960" y="3410712"/>
            <a:ext cx="2926080" cy="365760"/>
          </a:xfrm>
          <a:prstGeom prst="rect">
            <a:avLst/>
          </a:prstGeom>
          <a:noFill/>
          <a:ln/>
        </p:spPr>
        <p:txBody>
          <a:bodyPr wrap="square" lIns="0" tIns="0" rIns="0" bIns="0" rtlCol="0" anchor="ctr"/>
          <a:lstStyle/>
          <a:p>
            <a:pPr indent="0" marL="0">
              <a:buNone/>
            </a:pPr>
            <a:r>
              <a:rPr lang="en-US" sz="1600" b="1" dirty="0">
                <a:solidFill>
                  <a:srgbClr val="0F172A"/>
                </a:solidFill>
                <a:latin typeface="Cambria" pitchFamily="34" charset="0"/>
                <a:ea typeface="Cambria" pitchFamily="34" charset="-122"/>
                <a:cs typeface="Cambria" pitchFamily="34" charset="-120"/>
              </a:rPr>
              <a:t>PHQ-8 · Sleep</a:t>
            </a:r>
            <a:endParaRPr lang="en-US" sz="1600" dirty="0"/>
          </a:p>
        </p:txBody>
      </p:sp>
      <p:sp>
        <p:nvSpPr>
          <p:cNvPr id="12" name="Text 10"/>
          <p:cNvSpPr/>
          <p:nvPr/>
        </p:nvSpPr>
        <p:spPr>
          <a:xfrm>
            <a:off x="822960" y="3877056"/>
            <a:ext cx="2743200" cy="292608"/>
          </a:xfrm>
          <a:prstGeom prst="rect">
            <a:avLst/>
          </a:prstGeom>
          <a:noFill/>
          <a:ln/>
        </p:spPr>
        <p:txBody>
          <a:bodyPr wrap="square" lIns="0" tIns="0" rIns="0" bIns="0" rtlCol="0" anchor="ctr"/>
          <a:lstStyle/>
          <a:p>
            <a:pPr indent="0" marL="0">
              <a:buNone/>
            </a:pPr>
            <a:r>
              <a:rPr lang="en-US" sz="1250" dirty="0">
                <a:solidFill>
                  <a:srgbClr val="5B7079"/>
                </a:solidFill>
                <a:latin typeface="Calibri" pitchFamily="34" charset="0"/>
                <a:ea typeface="Calibri" pitchFamily="34" charset="-122"/>
                <a:cs typeface="Calibri" pitchFamily="34" charset="-120"/>
              </a:rPr>
              <a:t>True </a:t>
            </a:r>
            <a:pPr indent="0" marL="0">
              <a:buNone/>
            </a:pPr>
            <a:r>
              <a:rPr lang="en-US" sz="1250" b="1" dirty="0">
                <a:solidFill>
                  <a:srgbClr val="0F172A"/>
                </a:solidFill>
                <a:latin typeface="Calibri" pitchFamily="34" charset="0"/>
                <a:ea typeface="Calibri" pitchFamily="34" charset="-122"/>
                <a:cs typeface="Calibri" pitchFamily="34" charset="-120"/>
              </a:rPr>
              <a:t>3</a:t>
            </a:r>
            <a:pPr indent="0" marL="0">
              <a:buNone/>
            </a:pPr>
            <a:r>
              <a:rPr lang="en-US" sz="1250" dirty="0">
                <a:solidFill>
                  <a:srgbClr val="5B7079"/>
                </a:solidFill>
                <a:latin typeface="Calibri" pitchFamily="34" charset="0"/>
                <a:ea typeface="Calibri" pitchFamily="34" charset="-122"/>
                <a:cs typeface="Calibri" pitchFamily="34" charset="-120"/>
              </a:rPr>
              <a:t>    CoT </a:t>
            </a:r>
            <a:pPr indent="0" marL="0">
              <a:buNone/>
            </a:pPr>
            <a:r>
              <a:rPr lang="en-US" sz="1250" b="1" dirty="0">
                <a:solidFill>
                  <a:srgbClr val="16A34A"/>
                </a:solidFill>
                <a:latin typeface="Calibri" pitchFamily="34" charset="0"/>
                <a:ea typeface="Calibri" pitchFamily="34" charset="-122"/>
                <a:cs typeface="Calibri" pitchFamily="34" charset="-120"/>
              </a:rPr>
              <a:t>3</a:t>
            </a:r>
            <a:pPr indent="0" marL="0">
              <a:buNone/>
            </a:pPr>
            <a:r>
              <a:rPr lang="en-US" sz="1250" dirty="0">
                <a:solidFill>
                  <a:srgbClr val="5B7079"/>
                </a:solidFill>
                <a:latin typeface="Calibri" pitchFamily="34" charset="0"/>
                <a:ea typeface="Calibri" pitchFamily="34" charset="-122"/>
                <a:cs typeface="Calibri" pitchFamily="34" charset="-120"/>
              </a:rPr>
              <a:t>    Enc </a:t>
            </a:r>
            <a:pPr indent="0" marL="0">
              <a:buNone/>
            </a:pPr>
            <a:r>
              <a:rPr lang="en-US" sz="1250" b="1" dirty="0">
                <a:solidFill>
                  <a:srgbClr val="0F172A"/>
                </a:solidFill>
                <a:latin typeface="Calibri" pitchFamily="34" charset="0"/>
                <a:ea typeface="Calibri" pitchFamily="34" charset="-122"/>
                <a:cs typeface="Calibri" pitchFamily="34" charset="-120"/>
              </a:rPr>
              <a:t>1</a:t>
            </a:r>
            <a:endParaRPr lang="en-US" sz="1250" dirty="0"/>
          </a:p>
        </p:txBody>
      </p:sp>
      <p:sp>
        <p:nvSpPr>
          <p:cNvPr id="13" name="Text 11"/>
          <p:cNvSpPr/>
          <p:nvPr/>
        </p:nvSpPr>
        <p:spPr>
          <a:xfrm>
            <a:off x="3886200" y="3154680"/>
            <a:ext cx="7406640" cy="987552"/>
          </a:xfrm>
          <a:prstGeom prst="rect">
            <a:avLst/>
          </a:prstGeom>
          <a:noFill/>
          <a:ln/>
        </p:spPr>
        <p:txBody>
          <a:bodyPr wrap="square" lIns="0" tIns="0" rIns="0" bIns="0" rtlCol="0" anchor="ctr"/>
          <a:lstStyle/>
          <a:p>
            <a:pPr indent="0" marL="0">
              <a:lnSpc>
                <a:spcPct val="103000"/>
              </a:lnSpc>
              <a:buNone/>
            </a:pPr>
            <a:r>
              <a:rPr lang="en-US" sz="1250" i="1" dirty="0">
                <a:solidFill>
                  <a:srgbClr val="0F172A"/>
                </a:solidFill>
                <a:latin typeface="Calibri" pitchFamily="34" charset="0"/>
                <a:ea typeface="Calibri" pitchFamily="34" charset="-122"/>
                <a:cs typeface="Calibri" pitchFamily="34" charset="-120"/>
              </a:rPr>
              <a:t>“Significant trouble sleeping — ‘I don’t sleep very well’, ‘waking up with anxiety attacks’, woken by stress and dreams.”</a:t>
            </a:r>
            <a:endParaRPr lang="en-US" sz="1250" dirty="0"/>
          </a:p>
        </p:txBody>
      </p:sp>
      <p:sp>
        <p:nvSpPr>
          <p:cNvPr id="14" name="Shape 12"/>
          <p:cNvSpPr/>
          <p:nvPr/>
        </p:nvSpPr>
        <p:spPr>
          <a:xfrm>
            <a:off x="594360" y="4535424"/>
            <a:ext cx="10972800" cy="1280160"/>
          </a:xfrm>
          <a:prstGeom prst="roundRect">
            <a:avLst>
              <a:gd name="adj" fmla="val 5000"/>
            </a:avLst>
          </a:prstGeom>
          <a:solidFill>
            <a:srgbClr val="FBEEE8"/>
          </a:solidFill>
          <a:ln/>
          <a:effectLst>
            <a:outerShdw sx="100000" sy="100000" kx="0" ky="0" algn="bl" rotWithShape="0" blurRad="114300" dist="38100" dir="5400000">
              <a:srgbClr val="0B3B45">
                <a:alpha val="14000"/>
              </a:srgbClr>
            </a:outerShdw>
          </a:effectLst>
        </p:spPr>
      </p:sp>
      <p:sp>
        <p:nvSpPr>
          <p:cNvPr id="15" name="Text 13"/>
          <p:cNvSpPr/>
          <p:nvPr/>
        </p:nvSpPr>
        <p:spPr>
          <a:xfrm>
            <a:off x="822960" y="4681728"/>
            <a:ext cx="2377440" cy="274320"/>
          </a:xfrm>
          <a:prstGeom prst="rect">
            <a:avLst/>
          </a:prstGeom>
          <a:noFill/>
          <a:ln/>
        </p:spPr>
        <p:txBody>
          <a:bodyPr wrap="square" lIns="0" tIns="0" rIns="0" bIns="0" rtlCol="0" anchor="ctr"/>
          <a:lstStyle/>
          <a:p>
            <a:pPr indent="0" marL="0">
              <a:buNone/>
            </a:pPr>
            <a:r>
              <a:rPr lang="en-US" sz="1050" b="1" spc="100" kern="0" dirty="0">
                <a:solidFill>
                  <a:srgbClr val="E2683C"/>
                </a:solidFill>
                <a:latin typeface="Calibri" pitchFamily="34" charset="0"/>
                <a:ea typeface="Calibri" pitchFamily="34" charset="-122"/>
                <a:cs typeface="Calibri" pitchFamily="34" charset="-120"/>
              </a:rPr>
              <a:t>INSTRUCTIVE MISS</a:t>
            </a:r>
            <a:endParaRPr lang="en-US" sz="1050" dirty="0"/>
          </a:p>
        </p:txBody>
      </p:sp>
      <p:sp>
        <p:nvSpPr>
          <p:cNvPr id="16" name="Text 14"/>
          <p:cNvSpPr/>
          <p:nvPr/>
        </p:nvSpPr>
        <p:spPr>
          <a:xfrm>
            <a:off x="822960" y="4937760"/>
            <a:ext cx="2926080" cy="365760"/>
          </a:xfrm>
          <a:prstGeom prst="rect">
            <a:avLst/>
          </a:prstGeom>
          <a:noFill/>
          <a:ln/>
        </p:spPr>
        <p:txBody>
          <a:bodyPr wrap="square" lIns="0" tIns="0" rIns="0" bIns="0" rtlCol="0" anchor="ctr"/>
          <a:lstStyle/>
          <a:p>
            <a:pPr indent="0" marL="0">
              <a:buNone/>
            </a:pPr>
            <a:r>
              <a:rPr lang="en-US" sz="1600" b="1" dirty="0">
                <a:solidFill>
                  <a:srgbClr val="0F172A"/>
                </a:solidFill>
                <a:latin typeface="Cambria" pitchFamily="34" charset="0"/>
                <a:ea typeface="Cambria" pitchFamily="34" charset="-122"/>
                <a:cs typeface="Cambria" pitchFamily="34" charset="-120"/>
              </a:rPr>
              <a:t>PHQ-8 · Appetite</a:t>
            </a:r>
            <a:endParaRPr lang="en-US" sz="1600" dirty="0"/>
          </a:p>
        </p:txBody>
      </p:sp>
      <p:sp>
        <p:nvSpPr>
          <p:cNvPr id="17" name="Text 15"/>
          <p:cNvSpPr/>
          <p:nvPr/>
        </p:nvSpPr>
        <p:spPr>
          <a:xfrm>
            <a:off x="822960" y="5404104"/>
            <a:ext cx="2743200" cy="292608"/>
          </a:xfrm>
          <a:prstGeom prst="rect">
            <a:avLst/>
          </a:prstGeom>
          <a:noFill/>
          <a:ln/>
        </p:spPr>
        <p:txBody>
          <a:bodyPr wrap="square" lIns="0" tIns="0" rIns="0" bIns="0" rtlCol="0" anchor="ctr"/>
          <a:lstStyle/>
          <a:p>
            <a:pPr indent="0" marL="0">
              <a:buNone/>
            </a:pPr>
            <a:r>
              <a:rPr lang="en-US" sz="1250" dirty="0">
                <a:solidFill>
                  <a:srgbClr val="5B7079"/>
                </a:solidFill>
                <a:latin typeface="Calibri" pitchFamily="34" charset="0"/>
                <a:ea typeface="Calibri" pitchFamily="34" charset="-122"/>
                <a:cs typeface="Calibri" pitchFamily="34" charset="-120"/>
              </a:rPr>
              <a:t>True </a:t>
            </a:r>
            <a:pPr indent="0" marL="0">
              <a:buNone/>
            </a:pPr>
            <a:r>
              <a:rPr lang="en-US" sz="1250" b="1" dirty="0">
                <a:solidFill>
                  <a:srgbClr val="0F172A"/>
                </a:solidFill>
                <a:latin typeface="Calibri" pitchFamily="34" charset="0"/>
                <a:ea typeface="Calibri" pitchFamily="34" charset="-122"/>
                <a:cs typeface="Calibri" pitchFamily="34" charset="-120"/>
              </a:rPr>
              <a:t>3</a:t>
            </a:r>
            <a:pPr indent="0" marL="0">
              <a:buNone/>
            </a:pPr>
            <a:r>
              <a:rPr lang="en-US" sz="1250" dirty="0">
                <a:solidFill>
                  <a:srgbClr val="5B7079"/>
                </a:solidFill>
                <a:latin typeface="Calibri" pitchFamily="34" charset="0"/>
                <a:ea typeface="Calibri" pitchFamily="34" charset="-122"/>
                <a:cs typeface="Calibri" pitchFamily="34" charset="-120"/>
              </a:rPr>
              <a:t>    CoT </a:t>
            </a:r>
            <a:pPr indent="0" marL="0">
              <a:buNone/>
            </a:pPr>
            <a:r>
              <a:rPr lang="en-US" sz="1250" b="1" dirty="0">
                <a:solidFill>
                  <a:srgbClr val="E2683C"/>
                </a:solidFill>
                <a:latin typeface="Calibri" pitchFamily="34" charset="0"/>
                <a:ea typeface="Calibri" pitchFamily="34" charset="-122"/>
                <a:cs typeface="Calibri" pitchFamily="34" charset="-120"/>
              </a:rPr>
              <a:t>0</a:t>
            </a:r>
            <a:pPr indent="0" marL="0">
              <a:buNone/>
            </a:pPr>
            <a:r>
              <a:rPr lang="en-US" sz="1250" dirty="0">
                <a:solidFill>
                  <a:srgbClr val="5B7079"/>
                </a:solidFill>
                <a:latin typeface="Calibri" pitchFamily="34" charset="0"/>
                <a:ea typeface="Calibri" pitchFamily="34" charset="-122"/>
                <a:cs typeface="Calibri" pitchFamily="34" charset="-120"/>
              </a:rPr>
              <a:t>    Enc </a:t>
            </a:r>
            <a:pPr indent="0" marL="0">
              <a:buNone/>
            </a:pPr>
            <a:r>
              <a:rPr lang="en-US" sz="1250" b="1" dirty="0">
                <a:solidFill>
                  <a:srgbClr val="0F172A"/>
                </a:solidFill>
                <a:latin typeface="Calibri" pitchFamily="34" charset="0"/>
                <a:ea typeface="Calibri" pitchFamily="34" charset="-122"/>
                <a:cs typeface="Calibri" pitchFamily="34" charset="-120"/>
              </a:rPr>
              <a:t>0</a:t>
            </a:r>
            <a:endParaRPr lang="en-US" sz="1250" dirty="0"/>
          </a:p>
        </p:txBody>
      </p:sp>
      <p:sp>
        <p:nvSpPr>
          <p:cNvPr id="18" name="Text 16"/>
          <p:cNvSpPr/>
          <p:nvPr/>
        </p:nvSpPr>
        <p:spPr>
          <a:xfrm>
            <a:off x="3886200" y="4681728"/>
            <a:ext cx="7406640" cy="987552"/>
          </a:xfrm>
          <a:prstGeom prst="rect">
            <a:avLst/>
          </a:prstGeom>
          <a:noFill/>
          <a:ln/>
        </p:spPr>
        <p:txBody>
          <a:bodyPr wrap="square" lIns="0" tIns="0" rIns="0" bIns="0" rtlCol="0" anchor="ctr"/>
          <a:lstStyle/>
          <a:p>
            <a:pPr indent="0" marL="0">
              <a:lnSpc>
                <a:spcPct val="103000"/>
              </a:lnSpc>
              <a:buNone/>
            </a:pPr>
            <a:r>
              <a:rPr lang="en-US" sz="1250" i="1" dirty="0">
                <a:solidFill>
                  <a:srgbClr val="0F172A"/>
                </a:solidFill>
                <a:latin typeface="Calibri" pitchFamily="34" charset="0"/>
                <a:ea typeface="Calibri" pitchFamily="34" charset="-122"/>
                <a:cs typeface="Calibri" pitchFamily="34" charset="-120"/>
              </a:rPr>
              <a:t>“No direct mention of poor appetite or overeating in the snippets…” — correct reasoning, but the retriever surfaced no appetite evidence (see Sleep/Appetite, Part 1).</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292608"/>
          </a:xfrm>
          <a:prstGeom prst="rect">
            <a:avLst/>
          </a:prstGeom>
          <a:noFill/>
          <a:ln/>
        </p:spPr>
        <p:txBody>
          <a:bodyPr wrap="square" lIns="0" tIns="0" rIns="0" bIns="0" rtlCol="0" anchor="ctr"/>
          <a:lstStyle/>
          <a:p>
            <a:pPr indent="0" marL="0">
              <a:buNone/>
            </a:pPr>
            <a:r>
              <a:rPr lang="en-US" sz="1250" b="1" spc="200" kern="0" dirty="0">
                <a:solidFill>
                  <a:srgbClr val="0D7D87"/>
                </a:solidFill>
                <a:latin typeface="Calibri" pitchFamily="34" charset="0"/>
                <a:ea typeface="Calibri" pitchFamily="34" charset="-122"/>
                <a:cs typeface="Calibri" pitchFamily="34" charset="-120"/>
              </a:rPr>
              <a:t>PART 3 · CALIBRATE &amp; DEPLOY</a:t>
            </a:r>
            <a:endParaRPr lang="en-US" sz="1250" dirty="0"/>
          </a:p>
        </p:txBody>
      </p:sp>
      <p:sp>
        <p:nvSpPr>
          <p:cNvPr id="3" name="Text 1"/>
          <p:cNvSpPr/>
          <p:nvPr/>
        </p:nvSpPr>
        <p:spPr>
          <a:xfrm>
            <a:off x="594360" y="676656"/>
            <a:ext cx="10972800" cy="713232"/>
          </a:xfrm>
          <a:prstGeom prst="rect">
            <a:avLst/>
          </a:prstGeom>
          <a:noFill/>
          <a:ln/>
        </p:spPr>
        <p:txBody>
          <a:bodyPr wrap="square" lIns="0" tIns="0" rIns="0" bIns="0" rtlCol="0" anchor="ctr"/>
          <a:lstStyle/>
          <a:p>
            <a:pPr indent="0" marL="0">
              <a:buNone/>
            </a:pPr>
            <a:r>
              <a:rPr lang="en-US" sz="2600" b="1" dirty="0">
                <a:solidFill>
                  <a:srgbClr val="0F172A"/>
                </a:solidFill>
                <a:latin typeface="Cambria" pitchFamily="34" charset="0"/>
                <a:ea typeface="Cambria" pitchFamily="34" charset="-122"/>
                <a:cs typeface="Cambria" pitchFamily="34" charset="-120"/>
              </a:rPr>
              <a:t>Calibrate first — then condition, don’t just blend</a:t>
            </a:r>
            <a:endParaRPr lang="en-US" sz="2600" dirty="0"/>
          </a:p>
        </p:txBody>
      </p:sp>
      <p:pic>
        <p:nvPicPr>
          <p:cNvPr id="4" name="Image 0" descr="fig6_calibrated_fusion.png">    </p:cNvPr>
          <p:cNvPicPr>
            <a:picLocks noChangeAspect="1"/>
          </p:cNvPicPr>
          <p:nvPr/>
        </p:nvPicPr>
        <p:blipFill>
          <a:blip r:embed="rId1"/>
          <a:stretch>
            <a:fillRect/>
          </a:stretch>
        </p:blipFill>
        <p:spPr>
          <a:xfrm>
            <a:off x="1698772" y="1554480"/>
            <a:ext cx="8763975" cy="3840480"/>
          </a:xfrm>
          <a:prstGeom prst="rect">
            <a:avLst/>
          </a:prstGeom>
        </p:spPr>
      </p:pic>
      <p:sp>
        <p:nvSpPr>
          <p:cNvPr id="5" name="Shape 2"/>
          <p:cNvSpPr/>
          <p:nvPr/>
        </p:nvSpPr>
        <p:spPr>
          <a:xfrm>
            <a:off x="594360" y="5650992"/>
            <a:ext cx="10972800" cy="877824"/>
          </a:xfrm>
          <a:prstGeom prst="roundRect">
            <a:avLst>
              <a:gd name="adj" fmla="val 9375"/>
            </a:avLst>
          </a:prstGeom>
          <a:solidFill>
            <a:srgbClr val="EEF6F6"/>
          </a:solidFill>
          <a:ln/>
          <a:effectLst>
            <a:outerShdw sx="100000" sy="100000" kx="0" ky="0" algn="bl" rotWithShape="0" blurRad="114300" dist="38100" dir="5400000">
              <a:srgbClr val="0B3B45">
                <a:alpha val="14000"/>
              </a:srgbClr>
            </a:outerShdw>
          </a:effectLst>
        </p:spPr>
      </p:sp>
      <p:sp>
        <p:nvSpPr>
          <p:cNvPr id="6" name="Text 3"/>
          <p:cNvSpPr/>
          <p:nvPr/>
        </p:nvSpPr>
        <p:spPr>
          <a:xfrm>
            <a:off x="822960" y="5650992"/>
            <a:ext cx="10515600" cy="877824"/>
          </a:xfrm>
          <a:prstGeom prst="rect">
            <a:avLst/>
          </a:prstGeom>
          <a:noFill/>
          <a:ln/>
        </p:spPr>
        <p:txBody>
          <a:bodyPr wrap="square" lIns="0" tIns="0" rIns="0" bIns="0" rtlCol="0" anchor="ctr"/>
          <a:lstStyle/>
          <a:p>
            <a:pPr indent="0" marL="0">
              <a:lnSpc>
                <a:spcPct val="102000"/>
              </a:lnSpc>
              <a:buNone/>
            </a:pPr>
            <a:r>
              <a:rPr lang="en-US" sz="1350" b="1" dirty="0">
                <a:solidFill>
                  <a:srgbClr val="0D7D87"/>
                </a:solidFill>
                <a:latin typeface="Calibri" pitchFamily="34" charset="0"/>
                <a:ea typeface="Calibri" pitchFamily="34" charset="-122"/>
                <a:cs typeface="Calibri" pitchFamily="34" charset="-120"/>
              </a:rPr>
              <a:t>Takeaway.  </a:t>
            </a:r>
            <a:pPr indent="0" marL="0">
              <a:lnSpc>
                <a:spcPct val="102000"/>
              </a:lnSpc>
              <a:buNone/>
            </a:pPr>
            <a:r>
              <a:rPr lang="en-US" sz="1350" dirty="0">
                <a:solidFill>
                  <a:srgbClr val="0F172A"/>
                </a:solidFill>
                <a:latin typeface="Calibri" pitchFamily="34" charset="0"/>
                <a:ea typeface="Calibri" pitchFamily="34" charset="-122"/>
                <a:cs typeface="Calibri" pitchFamily="34" charset="-120"/>
              </a:rPr>
              <a:t>Temperature scaling cuts calibration error 79% (ECE 0.40 → 0.08). A scalar blend still ≈ the encoder; </a:t>
            </a:r>
            <a:pPr indent="0" marL="0">
              <a:lnSpc>
                <a:spcPct val="102000"/>
              </a:lnSpc>
              <a:buNone/>
            </a:pPr>
            <a:r>
              <a:rPr lang="en-US" sz="1350" b="1" dirty="0">
                <a:solidFill>
                  <a:srgbClr val="0F172A"/>
                </a:solidFill>
                <a:latin typeface="Calibri" pitchFamily="34" charset="0"/>
                <a:ea typeface="Calibri" pitchFamily="34" charset="-122"/>
                <a:cs typeface="Calibri" pitchFamily="34" charset="-120"/>
              </a:rPr>
              <a:t>only combiners that condition on item / severity beat both parents.</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292608"/>
          </a:xfrm>
          <a:prstGeom prst="rect">
            <a:avLst/>
          </a:prstGeom>
          <a:noFill/>
          <a:ln/>
        </p:spPr>
        <p:txBody>
          <a:bodyPr wrap="square" lIns="0" tIns="0" rIns="0" bIns="0" rtlCol="0" anchor="ctr"/>
          <a:lstStyle/>
          <a:p>
            <a:pPr indent="0" marL="0">
              <a:buNone/>
            </a:pPr>
            <a:r>
              <a:rPr lang="en-US" sz="1250" b="1" spc="200" kern="0" dirty="0">
                <a:solidFill>
                  <a:srgbClr val="0D7D87"/>
                </a:solidFill>
                <a:latin typeface="Calibri" pitchFamily="34" charset="0"/>
                <a:ea typeface="Calibri" pitchFamily="34" charset="-122"/>
                <a:cs typeface="Calibri" pitchFamily="34" charset="-120"/>
              </a:rPr>
              <a:t>PART 3 · CALIBRATE &amp; DEPLOY</a:t>
            </a:r>
            <a:endParaRPr lang="en-US" sz="1250" dirty="0"/>
          </a:p>
        </p:txBody>
      </p:sp>
      <p:sp>
        <p:nvSpPr>
          <p:cNvPr id="3" name="Text 1"/>
          <p:cNvSpPr/>
          <p:nvPr/>
        </p:nvSpPr>
        <p:spPr>
          <a:xfrm>
            <a:off x="594360" y="676656"/>
            <a:ext cx="10972800" cy="713232"/>
          </a:xfrm>
          <a:prstGeom prst="rect">
            <a:avLst/>
          </a:prstGeom>
          <a:noFill/>
          <a:ln/>
        </p:spPr>
        <p:txBody>
          <a:bodyPr wrap="square" lIns="0" tIns="0" rIns="0" bIns="0" rtlCol="0" anchor="ctr"/>
          <a:lstStyle/>
          <a:p>
            <a:pPr indent="0" marL="0">
              <a:buNone/>
            </a:pPr>
            <a:r>
              <a:rPr lang="en-US" sz="2600" b="1" dirty="0">
                <a:solidFill>
                  <a:srgbClr val="0F172A"/>
                </a:solidFill>
                <a:latin typeface="Cambria" pitchFamily="34" charset="0"/>
                <a:ea typeface="Cambria" pitchFamily="34" charset="-122"/>
                <a:cs typeface="Cambria" pitchFamily="34" charset="-120"/>
              </a:rPr>
              <a:t>As a screener, the default threshold hides a usable tool</a:t>
            </a:r>
            <a:endParaRPr lang="en-US" sz="2600" dirty="0"/>
          </a:p>
        </p:txBody>
      </p:sp>
      <p:pic>
        <p:nvPicPr>
          <p:cNvPr id="4" name="Image 0" descr="fig7_clinical_screener.png">    </p:cNvPr>
          <p:cNvPicPr>
            <a:picLocks noChangeAspect="1"/>
          </p:cNvPicPr>
          <p:nvPr/>
        </p:nvPicPr>
        <p:blipFill>
          <a:blip r:embed="rId1"/>
          <a:stretch>
            <a:fillRect/>
          </a:stretch>
        </p:blipFill>
        <p:spPr>
          <a:xfrm>
            <a:off x="1531711" y="1554480"/>
            <a:ext cx="9098097" cy="3840480"/>
          </a:xfrm>
          <a:prstGeom prst="rect">
            <a:avLst/>
          </a:prstGeom>
        </p:spPr>
      </p:pic>
      <p:sp>
        <p:nvSpPr>
          <p:cNvPr id="5" name="Shape 2"/>
          <p:cNvSpPr/>
          <p:nvPr/>
        </p:nvSpPr>
        <p:spPr>
          <a:xfrm>
            <a:off x="594360" y="5650992"/>
            <a:ext cx="10972800" cy="877824"/>
          </a:xfrm>
          <a:prstGeom prst="roundRect">
            <a:avLst>
              <a:gd name="adj" fmla="val 9375"/>
            </a:avLst>
          </a:prstGeom>
          <a:solidFill>
            <a:srgbClr val="EEF6F6"/>
          </a:solidFill>
          <a:ln/>
          <a:effectLst>
            <a:outerShdw sx="100000" sy="100000" kx="0" ky="0" algn="bl" rotWithShape="0" blurRad="114300" dist="38100" dir="5400000">
              <a:srgbClr val="0B3B45">
                <a:alpha val="14000"/>
              </a:srgbClr>
            </a:outerShdw>
          </a:effectLst>
        </p:spPr>
      </p:sp>
      <p:sp>
        <p:nvSpPr>
          <p:cNvPr id="6" name="Text 3"/>
          <p:cNvSpPr/>
          <p:nvPr/>
        </p:nvSpPr>
        <p:spPr>
          <a:xfrm>
            <a:off x="822960" y="5650992"/>
            <a:ext cx="10515600" cy="877824"/>
          </a:xfrm>
          <a:prstGeom prst="rect">
            <a:avLst/>
          </a:prstGeom>
          <a:noFill/>
          <a:ln/>
        </p:spPr>
        <p:txBody>
          <a:bodyPr wrap="square" lIns="0" tIns="0" rIns="0" bIns="0" rtlCol="0" anchor="ctr"/>
          <a:lstStyle/>
          <a:p>
            <a:pPr indent="0" marL="0">
              <a:lnSpc>
                <a:spcPct val="102000"/>
              </a:lnSpc>
              <a:buNone/>
            </a:pPr>
            <a:r>
              <a:rPr lang="en-US" sz="1350" b="1" dirty="0">
                <a:solidFill>
                  <a:srgbClr val="0D7D87"/>
                </a:solidFill>
                <a:latin typeface="Calibri" pitchFamily="34" charset="0"/>
                <a:ea typeface="Calibri" pitchFamily="34" charset="-122"/>
                <a:cs typeface="Calibri" pitchFamily="34" charset="-120"/>
              </a:rPr>
              <a:t>Takeaway.  </a:t>
            </a:r>
            <a:pPr indent="0" marL="0">
              <a:lnSpc>
                <a:spcPct val="102000"/>
              </a:lnSpc>
              <a:buNone/>
            </a:pPr>
            <a:r>
              <a:rPr lang="en-US" sz="1350" dirty="0">
                <a:solidFill>
                  <a:srgbClr val="0F172A"/>
                </a:solidFill>
                <a:latin typeface="Calibri" pitchFamily="34" charset="0"/>
                <a:ea typeface="Calibri" pitchFamily="34" charset="-122"/>
                <a:cs typeface="Calibri" pitchFamily="34" charset="-120"/>
              </a:rPr>
              <a:t>Default argmax ≥ 10 catches only 37% of cases, but the ranking is strong (AUC 0.78): </a:t>
            </a:r>
            <a:pPr indent="0" marL="0">
              <a:lnSpc>
                <a:spcPct val="102000"/>
              </a:lnSpc>
              <a:buNone/>
            </a:pPr>
            <a:r>
              <a:rPr lang="en-US" sz="1350" b="1" dirty="0">
                <a:solidFill>
                  <a:srgbClr val="0F172A"/>
                </a:solidFill>
                <a:latin typeface="Calibri" pitchFamily="34" charset="0"/>
                <a:ea typeface="Calibri" pitchFamily="34" charset="-122"/>
                <a:cs typeface="Calibri" pitchFamily="34" charset="-120"/>
              </a:rPr>
              <a:t>a tuned threshold reaches 86% sensitivity</a:t>
            </a:r>
            <a:pPr indent="0" marL="0">
              <a:lnSpc>
                <a:spcPct val="102000"/>
              </a:lnSpc>
              <a:buNone/>
            </a:pPr>
            <a:r>
              <a:rPr lang="en-US" sz="1350" dirty="0">
                <a:solidFill>
                  <a:srgbClr val="0F172A"/>
                </a:solidFill>
                <a:latin typeface="Calibri" pitchFamily="34" charset="0"/>
                <a:ea typeface="Calibri" pitchFamily="34" charset="-122"/>
                <a:cs typeface="Calibri" pitchFamily="34" charset="-120"/>
              </a:rPr>
              <a:t> — report the metric that matches the deployment question.</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292608"/>
          </a:xfrm>
          <a:prstGeom prst="rect">
            <a:avLst/>
          </a:prstGeom>
          <a:noFill/>
          <a:ln/>
        </p:spPr>
        <p:txBody>
          <a:bodyPr wrap="square" lIns="0" tIns="0" rIns="0" bIns="0" rtlCol="0" anchor="ctr"/>
          <a:lstStyle/>
          <a:p>
            <a:pPr indent="0" marL="0">
              <a:buNone/>
            </a:pPr>
            <a:r>
              <a:rPr lang="en-US" sz="1250" b="1" spc="200" kern="0" dirty="0">
                <a:solidFill>
                  <a:srgbClr val="0D7D87"/>
                </a:solidFill>
                <a:latin typeface="Calibri" pitchFamily="34" charset="0"/>
                <a:ea typeface="Calibri" pitchFamily="34" charset="-122"/>
                <a:cs typeface="Calibri" pitchFamily="34" charset="-120"/>
              </a:rPr>
              <a:t>PART 3 · CALIBRATE &amp; DEPLOY</a:t>
            </a:r>
            <a:endParaRPr lang="en-US" sz="1250" dirty="0"/>
          </a:p>
        </p:txBody>
      </p:sp>
      <p:sp>
        <p:nvSpPr>
          <p:cNvPr id="3" name="Text 1"/>
          <p:cNvSpPr/>
          <p:nvPr/>
        </p:nvSpPr>
        <p:spPr>
          <a:xfrm>
            <a:off x="594360" y="676656"/>
            <a:ext cx="10972800" cy="713232"/>
          </a:xfrm>
          <a:prstGeom prst="rect">
            <a:avLst/>
          </a:prstGeom>
          <a:noFill/>
          <a:ln/>
        </p:spPr>
        <p:txBody>
          <a:bodyPr wrap="square" lIns="0" tIns="0" rIns="0" bIns="0" rtlCol="0" anchor="ctr"/>
          <a:lstStyle/>
          <a:p>
            <a:pPr indent="0" marL="0">
              <a:buNone/>
            </a:pPr>
            <a:r>
              <a:rPr lang="en-US" sz="2600" b="1" dirty="0">
                <a:solidFill>
                  <a:srgbClr val="0F172A"/>
                </a:solidFill>
                <a:latin typeface="Cambria" pitchFamily="34" charset="0"/>
                <a:ea typeface="Cambria" pitchFamily="34" charset="-122"/>
                <a:cs typeface="Cambria" pitchFamily="34" charset="-120"/>
              </a:rPr>
              <a:t>It knows what it doesn’t know</a:t>
            </a:r>
            <a:endParaRPr lang="en-US" sz="2600" dirty="0"/>
          </a:p>
        </p:txBody>
      </p:sp>
      <p:pic>
        <p:nvPicPr>
          <p:cNvPr id="4" name="Image 0" descr="fig8_selective_prediction.png">    </p:cNvPr>
          <p:cNvPicPr>
            <a:picLocks noChangeAspect="1"/>
          </p:cNvPicPr>
          <p:nvPr/>
        </p:nvPicPr>
        <p:blipFill>
          <a:blip r:embed="rId1"/>
          <a:stretch>
            <a:fillRect/>
          </a:stretch>
        </p:blipFill>
        <p:spPr>
          <a:xfrm>
            <a:off x="1435699" y="1554480"/>
            <a:ext cx="9290121" cy="3840480"/>
          </a:xfrm>
          <a:prstGeom prst="rect">
            <a:avLst/>
          </a:prstGeom>
        </p:spPr>
      </p:pic>
      <p:sp>
        <p:nvSpPr>
          <p:cNvPr id="5" name="Shape 2"/>
          <p:cNvSpPr/>
          <p:nvPr/>
        </p:nvSpPr>
        <p:spPr>
          <a:xfrm>
            <a:off x="594360" y="5650992"/>
            <a:ext cx="10972800" cy="877824"/>
          </a:xfrm>
          <a:prstGeom prst="roundRect">
            <a:avLst>
              <a:gd name="adj" fmla="val 9375"/>
            </a:avLst>
          </a:prstGeom>
          <a:solidFill>
            <a:srgbClr val="EEF6F6"/>
          </a:solidFill>
          <a:ln/>
          <a:effectLst>
            <a:outerShdw sx="100000" sy="100000" kx="0" ky="0" algn="bl" rotWithShape="0" blurRad="114300" dist="38100" dir="5400000">
              <a:srgbClr val="0B3B45">
                <a:alpha val="14000"/>
              </a:srgbClr>
            </a:outerShdw>
          </a:effectLst>
        </p:spPr>
      </p:sp>
      <p:sp>
        <p:nvSpPr>
          <p:cNvPr id="6" name="Text 3"/>
          <p:cNvSpPr/>
          <p:nvPr/>
        </p:nvSpPr>
        <p:spPr>
          <a:xfrm>
            <a:off x="822960" y="5650992"/>
            <a:ext cx="10515600" cy="877824"/>
          </a:xfrm>
          <a:prstGeom prst="rect">
            <a:avLst/>
          </a:prstGeom>
          <a:noFill/>
          <a:ln/>
        </p:spPr>
        <p:txBody>
          <a:bodyPr wrap="square" lIns="0" tIns="0" rIns="0" bIns="0" rtlCol="0" anchor="ctr"/>
          <a:lstStyle/>
          <a:p>
            <a:pPr indent="0" marL="0">
              <a:lnSpc>
                <a:spcPct val="102000"/>
              </a:lnSpc>
              <a:buNone/>
            </a:pPr>
            <a:r>
              <a:rPr lang="en-US" sz="1350" b="1" dirty="0">
                <a:solidFill>
                  <a:srgbClr val="0D7D87"/>
                </a:solidFill>
                <a:latin typeface="Calibri" pitchFamily="34" charset="0"/>
                <a:ea typeface="Calibri" pitchFamily="34" charset="-122"/>
                <a:cs typeface="Calibri" pitchFamily="34" charset="-120"/>
              </a:rPr>
              <a:t>Takeaway.  </a:t>
            </a:r>
            <a:pPr indent="0" marL="0">
              <a:lnSpc>
                <a:spcPct val="102000"/>
              </a:lnSpc>
              <a:buNone/>
            </a:pPr>
            <a:r>
              <a:rPr lang="en-US" sz="1350" dirty="0">
                <a:solidFill>
                  <a:srgbClr val="0F172A"/>
                </a:solidFill>
                <a:latin typeface="Calibri" pitchFamily="34" charset="0"/>
                <a:ea typeface="Calibri" pitchFamily="34" charset="-122"/>
                <a:cs typeface="Calibri" pitchFamily="34" charset="-120"/>
              </a:rPr>
              <a:t>Abstaining on the least-confident 40% raises accuracy on the rest (0.46 → 0.52) and </a:t>
            </a:r>
            <a:pPr indent="0" marL="0">
              <a:lnSpc>
                <a:spcPct val="102000"/>
              </a:lnSpc>
              <a:buNone/>
            </a:pPr>
            <a:r>
              <a:rPr lang="en-US" sz="1350" b="1" dirty="0">
                <a:solidFill>
                  <a:srgbClr val="0F172A"/>
                </a:solidFill>
                <a:latin typeface="Calibri" pitchFamily="34" charset="0"/>
                <a:ea typeface="Calibri" pitchFamily="34" charset="-122"/>
                <a:cs typeface="Calibri" pitchFamily="34" charset="-120"/>
              </a:rPr>
              <a:t>defers the ambiguous severe cases to a clinician</a:t>
            </a:r>
            <a:pPr indent="0" marL="0">
              <a:lnSpc>
                <a:spcPct val="102000"/>
              </a:lnSpc>
              <a:buNone/>
            </a:pPr>
            <a:r>
              <a:rPr lang="en-US" sz="1350" dirty="0">
                <a:solidFill>
                  <a:srgbClr val="0F172A"/>
                </a:solidFill>
                <a:latin typeface="Calibri" pitchFamily="34" charset="0"/>
                <a:ea typeface="Calibri" pitchFamily="34" charset="-122"/>
                <a:cs typeface="Calibri" pitchFamily="34" charset="-120"/>
              </a:rPr>
              <a:t> — a credible human-in-the-loop design.</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292608"/>
          </a:xfrm>
          <a:prstGeom prst="rect">
            <a:avLst/>
          </a:prstGeom>
          <a:noFill/>
          <a:ln/>
        </p:spPr>
        <p:txBody>
          <a:bodyPr wrap="square" lIns="0" tIns="0" rIns="0" bIns="0" rtlCol="0" anchor="ctr"/>
          <a:lstStyle/>
          <a:p>
            <a:pPr indent="0" marL="0">
              <a:buNone/>
            </a:pPr>
            <a:r>
              <a:rPr lang="en-US" sz="1250" b="1" spc="200" kern="0" dirty="0">
                <a:solidFill>
                  <a:srgbClr val="0D7D87"/>
                </a:solidFill>
                <a:latin typeface="Calibri" pitchFamily="34" charset="0"/>
                <a:ea typeface="Calibri" pitchFamily="34" charset="-122"/>
                <a:cs typeface="Calibri" pitchFamily="34" charset="-120"/>
              </a:rPr>
              <a:t>PART 3 · CALIBRATE &amp; DEPLOY</a:t>
            </a:r>
            <a:endParaRPr lang="en-US" sz="1250" dirty="0"/>
          </a:p>
        </p:txBody>
      </p:sp>
      <p:sp>
        <p:nvSpPr>
          <p:cNvPr id="3" name="Text 1"/>
          <p:cNvSpPr/>
          <p:nvPr/>
        </p:nvSpPr>
        <p:spPr>
          <a:xfrm>
            <a:off x="594360" y="676656"/>
            <a:ext cx="10972800" cy="713232"/>
          </a:xfrm>
          <a:prstGeom prst="rect">
            <a:avLst/>
          </a:prstGeom>
          <a:noFill/>
          <a:ln/>
        </p:spPr>
        <p:txBody>
          <a:bodyPr wrap="square" lIns="0" tIns="0" rIns="0" bIns="0" rtlCol="0" anchor="ctr"/>
          <a:lstStyle/>
          <a:p>
            <a:pPr indent="0" marL="0">
              <a:buNone/>
            </a:pPr>
            <a:r>
              <a:rPr lang="en-US" sz="2600" b="1" dirty="0">
                <a:solidFill>
                  <a:srgbClr val="0F172A"/>
                </a:solidFill>
                <a:latin typeface="Cambria" pitchFamily="34" charset="0"/>
                <a:ea typeface="Cambria" pitchFamily="34" charset="-122"/>
                <a:cs typeface="Cambria" pitchFamily="34" charset="-120"/>
              </a:rPr>
              <a:t>Which gains survive uncertainty?</a:t>
            </a:r>
            <a:endParaRPr lang="en-US" sz="2600" dirty="0"/>
          </a:p>
        </p:txBody>
      </p:sp>
      <p:pic>
        <p:nvPicPr>
          <p:cNvPr id="4" name="Image 0" descr="fig9_bootstrap_ci.png">    </p:cNvPr>
          <p:cNvPicPr>
            <a:picLocks noChangeAspect="1"/>
          </p:cNvPicPr>
          <p:nvPr/>
        </p:nvPicPr>
        <p:blipFill>
          <a:blip r:embed="rId1"/>
          <a:stretch>
            <a:fillRect/>
          </a:stretch>
        </p:blipFill>
        <p:spPr>
          <a:xfrm>
            <a:off x="1310107" y="1554480"/>
            <a:ext cx="9541307" cy="3749040"/>
          </a:xfrm>
          <a:prstGeom prst="rect">
            <a:avLst/>
          </a:prstGeom>
        </p:spPr>
      </p:pic>
      <p:sp>
        <p:nvSpPr>
          <p:cNvPr id="5" name="Shape 2"/>
          <p:cNvSpPr/>
          <p:nvPr/>
        </p:nvSpPr>
        <p:spPr>
          <a:xfrm>
            <a:off x="594360" y="5650992"/>
            <a:ext cx="10972800" cy="877824"/>
          </a:xfrm>
          <a:prstGeom prst="roundRect">
            <a:avLst>
              <a:gd name="adj" fmla="val 9375"/>
            </a:avLst>
          </a:prstGeom>
          <a:solidFill>
            <a:srgbClr val="EEF6F6"/>
          </a:solidFill>
          <a:ln/>
          <a:effectLst>
            <a:outerShdw sx="100000" sy="100000" kx="0" ky="0" algn="bl" rotWithShape="0" blurRad="114300" dist="38100" dir="5400000">
              <a:srgbClr val="0B3B45">
                <a:alpha val="14000"/>
              </a:srgbClr>
            </a:outerShdw>
          </a:effectLst>
        </p:spPr>
      </p:sp>
      <p:sp>
        <p:nvSpPr>
          <p:cNvPr id="6" name="Text 3"/>
          <p:cNvSpPr/>
          <p:nvPr/>
        </p:nvSpPr>
        <p:spPr>
          <a:xfrm>
            <a:off x="822960" y="5650992"/>
            <a:ext cx="10515600" cy="877824"/>
          </a:xfrm>
          <a:prstGeom prst="rect">
            <a:avLst/>
          </a:prstGeom>
          <a:noFill/>
          <a:ln/>
        </p:spPr>
        <p:txBody>
          <a:bodyPr wrap="square" lIns="0" tIns="0" rIns="0" bIns="0" rtlCol="0" anchor="ctr"/>
          <a:lstStyle/>
          <a:p>
            <a:pPr indent="0" marL="0">
              <a:lnSpc>
                <a:spcPct val="102000"/>
              </a:lnSpc>
              <a:buNone/>
            </a:pPr>
            <a:r>
              <a:rPr lang="en-US" sz="1350" b="1" dirty="0">
                <a:solidFill>
                  <a:srgbClr val="0D7D87"/>
                </a:solidFill>
                <a:latin typeface="Calibri" pitchFamily="34" charset="0"/>
                <a:ea typeface="Calibri" pitchFamily="34" charset="-122"/>
                <a:cs typeface="Calibri" pitchFamily="34" charset="-120"/>
              </a:rPr>
              <a:t>Takeaway.  </a:t>
            </a:r>
            <a:pPr indent="0" marL="0">
              <a:lnSpc>
                <a:spcPct val="102000"/>
              </a:lnSpc>
              <a:buNone/>
            </a:pPr>
            <a:r>
              <a:rPr lang="en-US" sz="1350" dirty="0">
                <a:solidFill>
                  <a:srgbClr val="0F172A"/>
                </a:solidFill>
                <a:latin typeface="Calibri" pitchFamily="34" charset="0"/>
                <a:ea typeface="Calibri" pitchFamily="34" charset="-122"/>
                <a:cs typeface="Calibri" pitchFamily="34" charset="-120"/>
              </a:rPr>
              <a:t>Cluster bootstrap over 219 participants: </a:t>
            </a:r>
            <a:pPr indent="0" marL="0">
              <a:lnSpc>
                <a:spcPct val="102000"/>
              </a:lnSpc>
              <a:buNone/>
            </a:pPr>
            <a:r>
              <a:rPr lang="en-US" sz="1350" b="1" dirty="0">
                <a:solidFill>
                  <a:srgbClr val="0F172A"/>
                </a:solidFill>
                <a:latin typeface="Calibri" pitchFamily="34" charset="0"/>
                <a:ea typeface="Calibri" pitchFamily="34" charset="-122"/>
                <a:cs typeface="Calibri" pitchFamily="34" charset="-120"/>
              </a:rPr>
              <a:t>retrieval gains are unambiguous</a:t>
            </a:r>
            <a:pPr indent="0" marL="0">
              <a:lnSpc>
                <a:spcPct val="102000"/>
              </a:lnSpc>
              <a:buNone/>
            </a:pPr>
            <a:r>
              <a:rPr lang="en-US" sz="1350" dirty="0">
                <a:solidFill>
                  <a:srgbClr val="0F172A"/>
                </a:solidFill>
                <a:latin typeface="Calibri" pitchFamily="34" charset="0"/>
                <a:ea typeface="Calibri" pitchFamily="34" charset="-122"/>
                <a:cs typeface="Calibri" pitchFamily="34" charset="-120"/>
              </a:rPr>
              <a:t>; the CoT macro-F1 edge alone is not significant — a claim to state carefully.</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292608"/>
          </a:xfrm>
          <a:prstGeom prst="rect">
            <a:avLst/>
          </a:prstGeom>
          <a:noFill/>
          <a:ln/>
        </p:spPr>
        <p:txBody>
          <a:bodyPr wrap="square" lIns="0" tIns="0" rIns="0" bIns="0" rtlCol="0" anchor="ctr"/>
          <a:lstStyle/>
          <a:p>
            <a:pPr indent="0" marL="0">
              <a:buNone/>
            </a:pPr>
            <a:r>
              <a:rPr lang="en-US" sz="1250" b="1" spc="200" kern="0" dirty="0">
                <a:solidFill>
                  <a:srgbClr val="0D7D87"/>
                </a:solidFill>
                <a:latin typeface="Calibri" pitchFamily="34" charset="0"/>
                <a:ea typeface="Calibri" pitchFamily="34" charset="-122"/>
                <a:cs typeface="Calibri" pitchFamily="34" charset="-120"/>
              </a:rPr>
              <a:t>PART 4 · PUSHING THE FRONTIER</a:t>
            </a:r>
            <a:endParaRPr lang="en-US" sz="1250" dirty="0"/>
          </a:p>
        </p:txBody>
      </p:sp>
      <p:sp>
        <p:nvSpPr>
          <p:cNvPr id="3" name="Text 1"/>
          <p:cNvSpPr/>
          <p:nvPr/>
        </p:nvSpPr>
        <p:spPr>
          <a:xfrm>
            <a:off x="594360" y="676656"/>
            <a:ext cx="10972800" cy="713232"/>
          </a:xfrm>
          <a:prstGeom prst="rect">
            <a:avLst/>
          </a:prstGeom>
          <a:noFill/>
          <a:ln/>
        </p:spPr>
        <p:txBody>
          <a:bodyPr wrap="square" lIns="0" tIns="0" rIns="0" bIns="0" rtlCol="0" anchor="ctr"/>
          <a:lstStyle/>
          <a:p>
            <a:pPr indent="0" marL="0">
              <a:buNone/>
            </a:pPr>
            <a:r>
              <a:rPr lang="en-US" sz="2600" b="1" dirty="0">
                <a:solidFill>
                  <a:srgbClr val="0F172A"/>
                </a:solidFill>
                <a:latin typeface="Cambria" pitchFamily="34" charset="0"/>
                <a:ea typeface="Cambria" pitchFamily="34" charset="-122"/>
                <a:cs typeface="Cambria" pitchFamily="34" charset="-120"/>
              </a:rPr>
              <a:t>Four targeted experiments — each wins a different metric</a:t>
            </a:r>
            <a:endParaRPr lang="en-US" sz="2600" dirty="0"/>
          </a:p>
        </p:txBody>
      </p:sp>
      <p:pic>
        <p:nvPicPr>
          <p:cNvPr id="4" name="Image 0" descr="fig10_bucketb_summary.png">    </p:cNvPr>
          <p:cNvPicPr>
            <a:picLocks noChangeAspect="1"/>
          </p:cNvPicPr>
          <p:nvPr/>
        </p:nvPicPr>
        <p:blipFill>
          <a:blip r:embed="rId1"/>
          <a:stretch>
            <a:fillRect/>
          </a:stretch>
        </p:blipFill>
        <p:spPr>
          <a:xfrm>
            <a:off x="1867753" y="1554480"/>
            <a:ext cx="8426013" cy="3840480"/>
          </a:xfrm>
          <a:prstGeom prst="rect">
            <a:avLst/>
          </a:prstGeom>
        </p:spPr>
      </p:pic>
      <p:sp>
        <p:nvSpPr>
          <p:cNvPr id="5" name="Shape 2"/>
          <p:cNvSpPr/>
          <p:nvPr/>
        </p:nvSpPr>
        <p:spPr>
          <a:xfrm>
            <a:off x="594360" y="5650992"/>
            <a:ext cx="10972800" cy="877824"/>
          </a:xfrm>
          <a:prstGeom prst="roundRect">
            <a:avLst>
              <a:gd name="adj" fmla="val 9375"/>
            </a:avLst>
          </a:prstGeom>
          <a:solidFill>
            <a:srgbClr val="EEF6F6"/>
          </a:solidFill>
          <a:ln/>
          <a:effectLst>
            <a:outerShdw sx="100000" sy="100000" kx="0" ky="0" algn="bl" rotWithShape="0" blurRad="114300" dist="38100" dir="5400000">
              <a:srgbClr val="0B3B45">
                <a:alpha val="14000"/>
              </a:srgbClr>
            </a:outerShdw>
          </a:effectLst>
        </p:spPr>
      </p:sp>
      <p:sp>
        <p:nvSpPr>
          <p:cNvPr id="6" name="Text 3"/>
          <p:cNvSpPr/>
          <p:nvPr/>
        </p:nvSpPr>
        <p:spPr>
          <a:xfrm>
            <a:off x="822960" y="5650992"/>
            <a:ext cx="10515600" cy="877824"/>
          </a:xfrm>
          <a:prstGeom prst="rect">
            <a:avLst/>
          </a:prstGeom>
          <a:noFill/>
          <a:ln/>
        </p:spPr>
        <p:txBody>
          <a:bodyPr wrap="square" lIns="0" tIns="0" rIns="0" bIns="0" rtlCol="0" anchor="ctr"/>
          <a:lstStyle/>
          <a:p>
            <a:pPr indent="0" marL="0">
              <a:lnSpc>
                <a:spcPct val="102000"/>
              </a:lnSpc>
              <a:buNone/>
            </a:pPr>
            <a:r>
              <a:rPr lang="en-US" sz="1350" b="1" dirty="0">
                <a:solidFill>
                  <a:srgbClr val="0D7D87"/>
                </a:solidFill>
                <a:latin typeface="Calibri" pitchFamily="34" charset="0"/>
                <a:ea typeface="Calibri" pitchFamily="34" charset="-122"/>
                <a:cs typeface="Calibri" pitchFamily="34" charset="-120"/>
              </a:rPr>
              <a:t>Takeaway.  </a:t>
            </a:r>
            <a:pPr indent="0" marL="0">
              <a:lnSpc>
                <a:spcPct val="102000"/>
              </a:lnSpc>
              <a:buNone/>
            </a:pPr>
            <a:r>
              <a:rPr lang="en-US" sz="1350" dirty="0">
                <a:solidFill>
                  <a:srgbClr val="0F172A"/>
                </a:solidFill>
                <a:latin typeface="Calibri" pitchFamily="34" charset="0"/>
                <a:ea typeface="Calibri" pitchFamily="34" charset="-122"/>
                <a:cs typeface="Calibri" pitchFamily="34" charset="-120"/>
              </a:rPr>
              <a:t>No single winner: </a:t>
            </a:r>
            <a:pPr indent="0" marL="0">
              <a:lnSpc>
                <a:spcPct val="102000"/>
              </a:lnSpc>
              <a:buNone/>
            </a:pPr>
            <a:r>
              <a:rPr lang="en-US" sz="1350" b="1" dirty="0">
                <a:solidFill>
                  <a:srgbClr val="0F172A"/>
                </a:solidFill>
                <a:latin typeface="Calibri" pitchFamily="34" charset="0"/>
                <a:ea typeface="Calibri" pitchFamily="34" charset="-122"/>
                <a:cs typeface="Calibri" pitchFamily="34" charset="-120"/>
              </a:rPr>
              <a:t>attention-MIL is best overall</a:t>
            </a:r>
            <a:pPr indent="0" marL="0">
              <a:lnSpc>
                <a:spcPct val="102000"/>
              </a:lnSpc>
              <a:buNone/>
            </a:pPr>
            <a:r>
              <a:rPr lang="en-US" sz="1350" dirty="0">
                <a:solidFill>
                  <a:srgbClr val="0F172A"/>
                </a:solidFill>
                <a:latin typeface="Calibri" pitchFamily="34" charset="0"/>
                <a:ea typeface="Calibri" pitchFamily="34" charset="-122"/>
                <a:cs typeface="Calibri" pitchFamily="34" charset="-120"/>
              </a:rPr>
              <a:t>, focal CORN best ordinal (QWK), and reranking / balanced loss recover severe-class recall. Reranking did not fix the intrinsically hard items.</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292608"/>
          </a:xfrm>
          <a:prstGeom prst="rect">
            <a:avLst/>
          </a:prstGeom>
          <a:noFill/>
          <a:ln/>
        </p:spPr>
        <p:txBody>
          <a:bodyPr wrap="square" lIns="0" tIns="0" rIns="0" bIns="0" rtlCol="0" anchor="ctr"/>
          <a:lstStyle/>
          <a:p>
            <a:pPr indent="0" marL="0">
              <a:buNone/>
            </a:pPr>
            <a:r>
              <a:rPr lang="en-US" sz="1250" b="1" spc="200" kern="0" dirty="0">
                <a:solidFill>
                  <a:srgbClr val="0D7D87"/>
                </a:solidFill>
                <a:latin typeface="Calibri" pitchFamily="34" charset="0"/>
                <a:ea typeface="Calibri" pitchFamily="34" charset="-122"/>
                <a:cs typeface="Calibri" pitchFamily="34" charset="-120"/>
              </a:rPr>
              <a:t>PART 4 · PUSHING THE FRONTIER</a:t>
            </a:r>
            <a:endParaRPr lang="en-US" sz="1250" dirty="0"/>
          </a:p>
        </p:txBody>
      </p:sp>
      <p:sp>
        <p:nvSpPr>
          <p:cNvPr id="3" name="Text 1"/>
          <p:cNvSpPr/>
          <p:nvPr/>
        </p:nvSpPr>
        <p:spPr>
          <a:xfrm>
            <a:off x="594360" y="676656"/>
            <a:ext cx="10972800" cy="713232"/>
          </a:xfrm>
          <a:prstGeom prst="rect">
            <a:avLst/>
          </a:prstGeom>
          <a:noFill/>
          <a:ln/>
        </p:spPr>
        <p:txBody>
          <a:bodyPr wrap="square" lIns="0" tIns="0" rIns="0" bIns="0" rtlCol="0" anchor="ctr"/>
          <a:lstStyle/>
          <a:p>
            <a:pPr indent="0" marL="0">
              <a:buNone/>
            </a:pPr>
            <a:r>
              <a:rPr lang="en-US" sz="2600" b="1" dirty="0">
                <a:solidFill>
                  <a:srgbClr val="0F172A"/>
                </a:solidFill>
                <a:latin typeface="Cambria" pitchFamily="34" charset="0"/>
                <a:ea typeface="Cambria" pitchFamily="34" charset="-122"/>
                <a:cs typeface="Cambria" pitchFamily="34" charset="-120"/>
              </a:rPr>
              <a:t>The model points at its evidence</a:t>
            </a:r>
            <a:endParaRPr lang="en-US" sz="2600" dirty="0"/>
          </a:p>
        </p:txBody>
      </p:sp>
      <p:sp>
        <p:nvSpPr>
          <p:cNvPr id="4" name="Text 2"/>
          <p:cNvSpPr/>
          <p:nvPr/>
        </p:nvSpPr>
        <p:spPr>
          <a:xfrm>
            <a:off x="594360" y="1371600"/>
            <a:ext cx="10972800" cy="411480"/>
          </a:xfrm>
          <a:prstGeom prst="rect">
            <a:avLst/>
          </a:prstGeom>
          <a:noFill/>
          <a:ln/>
        </p:spPr>
        <p:txBody>
          <a:bodyPr wrap="square" lIns="0" tIns="0" rIns="0" bIns="0" rtlCol="0" anchor="ctr"/>
          <a:lstStyle/>
          <a:p>
            <a:pPr indent="0" marL="0">
              <a:buNone/>
            </a:pPr>
            <a:r>
              <a:rPr lang="en-US" sz="1400" dirty="0">
                <a:solidFill>
                  <a:srgbClr val="5B7079"/>
                </a:solidFill>
                <a:latin typeface="Calibri" pitchFamily="34" charset="0"/>
                <a:ea typeface="Calibri" pitchFamily="34" charset="-122"/>
                <a:cs typeface="Calibri" pitchFamily="34" charset="-120"/>
              </a:rPr>
              <a:t>Attention-MIL weights each retrieved window, so we can see which transcript span drove every score.</a:t>
            </a:r>
            <a:endParaRPr lang="en-US" sz="1400" dirty="0"/>
          </a:p>
        </p:txBody>
      </p:sp>
      <p:sp>
        <p:nvSpPr>
          <p:cNvPr id="5" name="Shape 3"/>
          <p:cNvSpPr/>
          <p:nvPr/>
        </p:nvSpPr>
        <p:spPr>
          <a:xfrm>
            <a:off x="594360" y="1920240"/>
            <a:ext cx="10972800" cy="1170432"/>
          </a:xfrm>
          <a:prstGeom prst="roundRect">
            <a:avLst>
              <a:gd name="adj" fmla="val 5469"/>
            </a:avLst>
          </a:prstGeom>
          <a:solidFill>
            <a:srgbClr val="EEF6F6"/>
          </a:solidFill>
          <a:ln/>
          <a:effectLst>
            <a:outerShdw sx="100000" sy="100000" kx="0" ky="0" algn="bl" rotWithShape="0" blurRad="114300" dist="38100" dir="5400000">
              <a:srgbClr val="0B3B45">
                <a:alpha val="14000"/>
              </a:srgbClr>
            </a:outerShdw>
          </a:effectLst>
        </p:spPr>
      </p:sp>
      <p:sp>
        <p:nvSpPr>
          <p:cNvPr id="6" name="Text 4"/>
          <p:cNvSpPr/>
          <p:nvPr/>
        </p:nvSpPr>
        <p:spPr>
          <a:xfrm>
            <a:off x="822960" y="2066544"/>
            <a:ext cx="2468880" cy="365760"/>
          </a:xfrm>
          <a:prstGeom prst="rect">
            <a:avLst/>
          </a:prstGeom>
          <a:noFill/>
          <a:ln/>
        </p:spPr>
        <p:txBody>
          <a:bodyPr wrap="square" lIns="0" tIns="0" rIns="0" bIns="0" rtlCol="0" anchor="ctr"/>
          <a:lstStyle/>
          <a:p>
            <a:pPr indent="0" marL="0">
              <a:buNone/>
            </a:pPr>
            <a:r>
              <a:rPr lang="en-US" sz="1600" b="1" dirty="0">
                <a:solidFill>
                  <a:srgbClr val="0F172A"/>
                </a:solidFill>
                <a:latin typeface="Cambria" pitchFamily="34" charset="0"/>
                <a:ea typeface="Cambria" pitchFamily="34" charset="-122"/>
                <a:cs typeface="Cambria" pitchFamily="34" charset="-120"/>
              </a:rPr>
              <a:t>PHQ-8 · Tired</a:t>
            </a:r>
            <a:endParaRPr lang="en-US" sz="1600" dirty="0"/>
          </a:p>
        </p:txBody>
      </p:sp>
      <p:sp>
        <p:nvSpPr>
          <p:cNvPr id="7" name="Text 5"/>
          <p:cNvSpPr/>
          <p:nvPr/>
        </p:nvSpPr>
        <p:spPr>
          <a:xfrm>
            <a:off x="822960" y="2487168"/>
            <a:ext cx="2468880" cy="274320"/>
          </a:xfrm>
          <a:prstGeom prst="rect">
            <a:avLst/>
          </a:prstGeom>
          <a:noFill/>
          <a:ln/>
        </p:spPr>
        <p:txBody>
          <a:bodyPr wrap="square" lIns="0" tIns="0" rIns="0" bIns="0" rtlCol="0" anchor="ctr"/>
          <a:lstStyle/>
          <a:p>
            <a:pPr indent="0" marL="0">
              <a:buNone/>
            </a:pPr>
            <a:r>
              <a:rPr lang="en-US" sz="1200" dirty="0">
                <a:solidFill>
                  <a:srgbClr val="5B7079"/>
                </a:solidFill>
                <a:latin typeface="Calibri" pitchFamily="34" charset="0"/>
                <a:ea typeface="Calibri" pitchFamily="34" charset="-122"/>
                <a:cs typeface="Calibri" pitchFamily="34" charset="-120"/>
              </a:rPr>
              <a:t>True severity </a:t>
            </a:r>
            <a:pPr indent="0" marL="0">
              <a:buNone/>
            </a:pPr>
            <a:r>
              <a:rPr lang="en-US" sz="1200" b="1" dirty="0">
                <a:solidFill>
                  <a:srgbClr val="0F172A"/>
                </a:solidFill>
                <a:latin typeface="Calibri" pitchFamily="34" charset="0"/>
                <a:ea typeface="Calibri" pitchFamily="34" charset="-122"/>
                <a:cs typeface="Calibri" pitchFamily="34" charset="-120"/>
              </a:rPr>
              <a:t>2</a:t>
            </a:r>
            <a:endParaRPr lang="en-US" sz="1200" dirty="0"/>
          </a:p>
        </p:txBody>
      </p:sp>
      <p:sp>
        <p:nvSpPr>
          <p:cNvPr id="8" name="Shape 6"/>
          <p:cNvSpPr/>
          <p:nvPr/>
        </p:nvSpPr>
        <p:spPr>
          <a:xfrm>
            <a:off x="822960" y="2761488"/>
            <a:ext cx="2103120" cy="256032"/>
          </a:xfrm>
          <a:prstGeom prst="roundRect">
            <a:avLst>
              <a:gd name="adj" fmla="val 21429"/>
            </a:avLst>
          </a:prstGeom>
          <a:solidFill>
            <a:srgbClr val="16A34A"/>
          </a:solidFill>
          <a:ln/>
        </p:spPr>
      </p:sp>
      <p:sp>
        <p:nvSpPr>
          <p:cNvPr id="9" name="Text 7"/>
          <p:cNvSpPr/>
          <p:nvPr/>
        </p:nvSpPr>
        <p:spPr>
          <a:xfrm>
            <a:off x="822960" y="2761488"/>
            <a:ext cx="210312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88% attention on top window</a:t>
            </a:r>
            <a:endParaRPr lang="en-US" sz="950" dirty="0"/>
          </a:p>
        </p:txBody>
      </p:sp>
      <p:sp>
        <p:nvSpPr>
          <p:cNvPr id="10" name="Text 8"/>
          <p:cNvSpPr/>
          <p:nvPr/>
        </p:nvSpPr>
        <p:spPr>
          <a:xfrm>
            <a:off x="3337560" y="2066544"/>
            <a:ext cx="7955280" cy="877824"/>
          </a:xfrm>
          <a:prstGeom prst="rect">
            <a:avLst/>
          </a:prstGeom>
          <a:noFill/>
          <a:ln/>
        </p:spPr>
        <p:txBody>
          <a:bodyPr wrap="square" lIns="0" tIns="0" rIns="0" bIns="0" rtlCol="0" anchor="ctr"/>
          <a:lstStyle/>
          <a:p>
            <a:pPr indent="0" marL="0">
              <a:lnSpc>
                <a:spcPct val="103000"/>
              </a:lnSpc>
              <a:buNone/>
            </a:pPr>
            <a:r>
              <a:rPr lang="en-US" sz="1250" i="1" dirty="0">
                <a:solidFill>
                  <a:srgbClr val="0F172A"/>
                </a:solidFill>
                <a:latin typeface="Calibri" pitchFamily="34" charset="0"/>
                <a:ea typeface="Calibri" pitchFamily="34" charset="-122"/>
                <a:cs typeface="Calibri" pitchFamily="34" charset="-120"/>
              </a:rPr>
              <a:t>“tired very tired and hard to focus… it just takes me longer to get things done cuz I don’t have my energy”</a:t>
            </a:r>
            <a:endParaRPr lang="en-US" sz="1250" dirty="0"/>
          </a:p>
        </p:txBody>
      </p:sp>
      <p:sp>
        <p:nvSpPr>
          <p:cNvPr id="11" name="Shape 9"/>
          <p:cNvSpPr/>
          <p:nvPr/>
        </p:nvSpPr>
        <p:spPr>
          <a:xfrm>
            <a:off x="594360" y="3328416"/>
            <a:ext cx="10972800" cy="1170432"/>
          </a:xfrm>
          <a:prstGeom prst="roundRect">
            <a:avLst>
              <a:gd name="adj" fmla="val 5469"/>
            </a:avLst>
          </a:prstGeom>
          <a:solidFill>
            <a:srgbClr val="EEF6F6"/>
          </a:solidFill>
          <a:ln/>
          <a:effectLst>
            <a:outerShdw sx="100000" sy="100000" kx="0" ky="0" algn="bl" rotWithShape="0" blurRad="114300" dist="38100" dir="5400000">
              <a:srgbClr val="0B3B45">
                <a:alpha val="14000"/>
              </a:srgbClr>
            </a:outerShdw>
          </a:effectLst>
        </p:spPr>
      </p:sp>
      <p:sp>
        <p:nvSpPr>
          <p:cNvPr id="12" name="Text 10"/>
          <p:cNvSpPr/>
          <p:nvPr/>
        </p:nvSpPr>
        <p:spPr>
          <a:xfrm>
            <a:off x="822960" y="3474720"/>
            <a:ext cx="2468880" cy="365760"/>
          </a:xfrm>
          <a:prstGeom prst="rect">
            <a:avLst/>
          </a:prstGeom>
          <a:noFill/>
          <a:ln/>
        </p:spPr>
        <p:txBody>
          <a:bodyPr wrap="square" lIns="0" tIns="0" rIns="0" bIns="0" rtlCol="0" anchor="ctr"/>
          <a:lstStyle/>
          <a:p>
            <a:pPr indent="0" marL="0">
              <a:buNone/>
            </a:pPr>
            <a:r>
              <a:rPr lang="en-US" sz="1600" b="1" dirty="0">
                <a:solidFill>
                  <a:srgbClr val="0F172A"/>
                </a:solidFill>
                <a:latin typeface="Cambria" pitchFamily="34" charset="0"/>
                <a:ea typeface="Cambria" pitchFamily="34" charset="-122"/>
                <a:cs typeface="Cambria" pitchFamily="34" charset="-120"/>
              </a:rPr>
              <a:t>PHQ-8 · Depressed</a:t>
            </a:r>
            <a:endParaRPr lang="en-US" sz="1600" dirty="0"/>
          </a:p>
        </p:txBody>
      </p:sp>
      <p:sp>
        <p:nvSpPr>
          <p:cNvPr id="13" name="Text 11"/>
          <p:cNvSpPr/>
          <p:nvPr/>
        </p:nvSpPr>
        <p:spPr>
          <a:xfrm>
            <a:off x="822960" y="3895344"/>
            <a:ext cx="2468880" cy="274320"/>
          </a:xfrm>
          <a:prstGeom prst="rect">
            <a:avLst/>
          </a:prstGeom>
          <a:noFill/>
          <a:ln/>
        </p:spPr>
        <p:txBody>
          <a:bodyPr wrap="square" lIns="0" tIns="0" rIns="0" bIns="0" rtlCol="0" anchor="ctr"/>
          <a:lstStyle/>
          <a:p>
            <a:pPr indent="0" marL="0">
              <a:buNone/>
            </a:pPr>
            <a:r>
              <a:rPr lang="en-US" sz="1200" dirty="0">
                <a:solidFill>
                  <a:srgbClr val="5B7079"/>
                </a:solidFill>
                <a:latin typeface="Calibri" pitchFamily="34" charset="0"/>
                <a:ea typeface="Calibri" pitchFamily="34" charset="-122"/>
                <a:cs typeface="Calibri" pitchFamily="34" charset="-120"/>
              </a:rPr>
              <a:t>True severity </a:t>
            </a:r>
            <a:pPr indent="0" marL="0">
              <a:buNone/>
            </a:pPr>
            <a:r>
              <a:rPr lang="en-US" sz="1200" b="1" dirty="0">
                <a:solidFill>
                  <a:srgbClr val="0F172A"/>
                </a:solidFill>
                <a:latin typeface="Calibri" pitchFamily="34" charset="0"/>
                <a:ea typeface="Calibri" pitchFamily="34" charset="-122"/>
                <a:cs typeface="Calibri" pitchFamily="34" charset="-120"/>
              </a:rPr>
              <a:t>3</a:t>
            </a:r>
            <a:endParaRPr lang="en-US" sz="1200" dirty="0"/>
          </a:p>
        </p:txBody>
      </p:sp>
      <p:sp>
        <p:nvSpPr>
          <p:cNvPr id="14" name="Shape 12"/>
          <p:cNvSpPr/>
          <p:nvPr/>
        </p:nvSpPr>
        <p:spPr>
          <a:xfrm>
            <a:off x="822960" y="4169664"/>
            <a:ext cx="2103120" cy="256032"/>
          </a:xfrm>
          <a:prstGeom prst="roundRect">
            <a:avLst>
              <a:gd name="adj" fmla="val 21429"/>
            </a:avLst>
          </a:prstGeom>
          <a:solidFill>
            <a:srgbClr val="16A34A"/>
          </a:solidFill>
          <a:ln/>
        </p:spPr>
      </p:sp>
      <p:sp>
        <p:nvSpPr>
          <p:cNvPr id="15" name="Text 13"/>
          <p:cNvSpPr/>
          <p:nvPr/>
        </p:nvSpPr>
        <p:spPr>
          <a:xfrm>
            <a:off x="822960" y="4169664"/>
            <a:ext cx="210312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60% attention on top window</a:t>
            </a:r>
            <a:endParaRPr lang="en-US" sz="950" dirty="0"/>
          </a:p>
        </p:txBody>
      </p:sp>
      <p:sp>
        <p:nvSpPr>
          <p:cNvPr id="16" name="Text 14"/>
          <p:cNvSpPr/>
          <p:nvPr/>
        </p:nvSpPr>
        <p:spPr>
          <a:xfrm>
            <a:off x="3337560" y="3474720"/>
            <a:ext cx="7955280" cy="877824"/>
          </a:xfrm>
          <a:prstGeom prst="rect">
            <a:avLst/>
          </a:prstGeom>
          <a:noFill/>
          <a:ln/>
        </p:spPr>
        <p:txBody>
          <a:bodyPr wrap="square" lIns="0" tIns="0" rIns="0" bIns="0" rtlCol="0" anchor="ctr"/>
          <a:lstStyle/>
          <a:p>
            <a:pPr indent="0" marL="0">
              <a:lnSpc>
                <a:spcPct val="103000"/>
              </a:lnSpc>
              <a:buNone/>
            </a:pPr>
            <a:r>
              <a:rPr lang="en-US" sz="1250" i="1" dirty="0">
                <a:solidFill>
                  <a:srgbClr val="0F172A"/>
                </a:solidFill>
                <a:latin typeface="Calibri" pitchFamily="34" charset="0"/>
                <a:ea typeface="Calibri" pitchFamily="34" charset="-122"/>
                <a:cs typeface="Calibri" pitchFamily="34" charset="-120"/>
              </a:rPr>
              <a:t>“…nervous and depressed and not happy [TURN_SEP] have you noticed any changes [TURN_SEP] yes”</a:t>
            </a:r>
            <a:endParaRPr lang="en-US" sz="1250" dirty="0"/>
          </a:p>
        </p:txBody>
      </p:sp>
      <p:sp>
        <p:nvSpPr>
          <p:cNvPr id="17" name="Shape 15"/>
          <p:cNvSpPr/>
          <p:nvPr/>
        </p:nvSpPr>
        <p:spPr>
          <a:xfrm>
            <a:off x="594360" y="4736592"/>
            <a:ext cx="10972800" cy="1170432"/>
          </a:xfrm>
          <a:prstGeom prst="roundRect">
            <a:avLst>
              <a:gd name="adj" fmla="val 5469"/>
            </a:avLst>
          </a:prstGeom>
          <a:solidFill>
            <a:srgbClr val="FBEEE8"/>
          </a:solidFill>
          <a:ln/>
          <a:effectLst>
            <a:outerShdw sx="100000" sy="100000" kx="0" ky="0" algn="bl" rotWithShape="0" blurRad="114300" dist="38100" dir="5400000">
              <a:srgbClr val="0B3B45">
                <a:alpha val="14000"/>
              </a:srgbClr>
            </a:outerShdw>
          </a:effectLst>
        </p:spPr>
      </p:sp>
      <p:sp>
        <p:nvSpPr>
          <p:cNvPr id="18" name="Text 16"/>
          <p:cNvSpPr/>
          <p:nvPr/>
        </p:nvSpPr>
        <p:spPr>
          <a:xfrm>
            <a:off x="822960" y="4882896"/>
            <a:ext cx="2468880" cy="365760"/>
          </a:xfrm>
          <a:prstGeom prst="rect">
            <a:avLst/>
          </a:prstGeom>
          <a:noFill/>
          <a:ln/>
        </p:spPr>
        <p:txBody>
          <a:bodyPr wrap="square" lIns="0" tIns="0" rIns="0" bIns="0" rtlCol="0" anchor="ctr"/>
          <a:lstStyle/>
          <a:p>
            <a:pPr indent="0" marL="0">
              <a:buNone/>
            </a:pPr>
            <a:r>
              <a:rPr lang="en-US" sz="1600" b="1" dirty="0">
                <a:solidFill>
                  <a:srgbClr val="0F172A"/>
                </a:solidFill>
                <a:latin typeface="Cambria" pitchFamily="34" charset="0"/>
                <a:ea typeface="Cambria" pitchFamily="34" charset="-122"/>
                <a:cs typeface="Cambria" pitchFamily="34" charset="-120"/>
              </a:rPr>
              <a:t>PHQ-8 · Appetite</a:t>
            </a:r>
            <a:endParaRPr lang="en-US" sz="1600" dirty="0"/>
          </a:p>
        </p:txBody>
      </p:sp>
      <p:sp>
        <p:nvSpPr>
          <p:cNvPr id="19" name="Text 17"/>
          <p:cNvSpPr/>
          <p:nvPr/>
        </p:nvSpPr>
        <p:spPr>
          <a:xfrm>
            <a:off x="822960" y="5303520"/>
            <a:ext cx="2468880" cy="274320"/>
          </a:xfrm>
          <a:prstGeom prst="rect">
            <a:avLst/>
          </a:prstGeom>
          <a:noFill/>
          <a:ln/>
        </p:spPr>
        <p:txBody>
          <a:bodyPr wrap="square" lIns="0" tIns="0" rIns="0" bIns="0" rtlCol="0" anchor="ctr"/>
          <a:lstStyle/>
          <a:p>
            <a:pPr indent="0" marL="0">
              <a:buNone/>
            </a:pPr>
            <a:r>
              <a:rPr lang="en-US" sz="1200" dirty="0">
                <a:solidFill>
                  <a:srgbClr val="5B7079"/>
                </a:solidFill>
                <a:latin typeface="Calibri" pitchFamily="34" charset="0"/>
                <a:ea typeface="Calibri" pitchFamily="34" charset="-122"/>
                <a:cs typeface="Calibri" pitchFamily="34" charset="-120"/>
              </a:rPr>
              <a:t>True severity </a:t>
            </a:r>
            <a:pPr indent="0" marL="0">
              <a:buNone/>
            </a:pPr>
            <a:r>
              <a:rPr lang="en-US" sz="1200" b="1" dirty="0">
                <a:solidFill>
                  <a:srgbClr val="0F172A"/>
                </a:solidFill>
                <a:latin typeface="Calibri" pitchFamily="34" charset="0"/>
                <a:ea typeface="Calibri" pitchFamily="34" charset="-122"/>
                <a:cs typeface="Calibri" pitchFamily="34" charset="-120"/>
              </a:rPr>
              <a:t>3</a:t>
            </a:r>
            <a:endParaRPr lang="en-US" sz="1200" dirty="0"/>
          </a:p>
        </p:txBody>
      </p:sp>
      <p:sp>
        <p:nvSpPr>
          <p:cNvPr id="20" name="Shape 18"/>
          <p:cNvSpPr/>
          <p:nvPr/>
        </p:nvSpPr>
        <p:spPr>
          <a:xfrm>
            <a:off x="822960" y="5577840"/>
            <a:ext cx="2103120" cy="256032"/>
          </a:xfrm>
          <a:prstGeom prst="roundRect">
            <a:avLst>
              <a:gd name="adj" fmla="val 21429"/>
            </a:avLst>
          </a:prstGeom>
          <a:solidFill>
            <a:srgbClr val="E2683C"/>
          </a:solidFill>
          <a:ln/>
        </p:spPr>
      </p:sp>
      <p:sp>
        <p:nvSpPr>
          <p:cNvPr id="21" name="Text 19"/>
          <p:cNvSpPr/>
          <p:nvPr/>
        </p:nvSpPr>
        <p:spPr>
          <a:xfrm>
            <a:off x="822960" y="5577840"/>
            <a:ext cx="210312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59% attention on top window</a:t>
            </a:r>
            <a:endParaRPr lang="en-US" sz="950" dirty="0"/>
          </a:p>
        </p:txBody>
      </p:sp>
      <p:sp>
        <p:nvSpPr>
          <p:cNvPr id="22" name="Text 20"/>
          <p:cNvSpPr/>
          <p:nvPr/>
        </p:nvSpPr>
        <p:spPr>
          <a:xfrm>
            <a:off x="3337560" y="4882896"/>
            <a:ext cx="7955280" cy="877824"/>
          </a:xfrm>
          <a:prstGeom prst="rect">
            <a:avLst/>
          </a:prstGeom>
          <a:noFill/>
          <a:ln/>
        </p:spPr>
        <p:txBody>
          <a:bodyPr wrap="square" lIns="0" tIns="0" rIns="0" bIns="0" rtlCol="0" anchor="ctr"/>
          <a:lstStyle/>
          <a:p>
            <a:pPr indent="0" marL="0">
              <a:lnSpc>
                <a:spcPct val="103000"/>
              </a:lnSpc>
              <a:buNone/>
            </a:pPr>
            <a:r>
              <a:rPr lang="en-US" sz="1250" i="1" dirty="0">
                <a:solidFill>
                  <a:srgbClr val="0F172A"/>
                </a:solidFill>
                <a:latin typeface="Calibri" pitchFamily="34" charset="0"/>
                <a:ea typeface="Calibri" pitchFamily="34" charset="-122"/>
                <a:cs typeface="Calibri" pitchFamily="34" charset="-120"/>
              </a:rPr>
              <a:t>“depressed [TURN_SEP] mood swings [TURN_SEP] high anxiety” — only loosely on-symptom: appetite evidence is genuinely thin.</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3B45"/>
        </a:solidFill>
      </p:bgPr>
    </p:bg>
    <p:spTree>
      <p:nvGrpSpPr>
        <p:cNvPr id="1" name=""/>
        <p:cNvGrpSpPr/>
        <p:nvPr/>
      </p:nvGrpSpPr>
      <p:grpSpPr>
        <a:xfrm>
          <a:off x="0" y="0"/>
          <a:ext cx="0" cy="0"/>
          <a:chOff x="0" y="0"/>
          <a:chExt cx="0" cy="0"/>
        </a:xfrm>
      </p:grpSpPr>
      <p:sp>
        <p:nvSpPr>
          <p:cNvPr id="2" name="Shape 0"/>
          <p:cNvSpPr/>
          <p:nvPr/>
        </p:nvSpPr>
        <p:spPr>
          <a:xfrm>
            <a:off x="9235440" y="4114800"/>
            <a:ext cx="4389120" cy="4389120"/>
          </a:xfrm>
          <a:prstGeom prst="ellipse">
            <a:avLst/>
          </a:prstGeom>
          <a:solidFill>
            <a:srgbClr val="0D7D87">
              <a:alpha val="20000"/>
            </a:srgbClr>
          </a:solidFill>
          <a:ln/>
        </p:spPr>
      </p:sp>
      <p:sp>
        <p:nvSpPr>
          <p:cNvPr id="3" name="Text 1"/>
          <p:cNvSpPr/>
          <p:nvPr/>
        </p:nvSpPr>
        <p:spPr>
          <a:xfrm>
            <a:off x="594360" y="502920"/>
            <a:ext cx="9144000" cy="365760"/>
          </a:xfrm>
          <a:prstGeom prst="rect">
            <a:avLst/>
          </a:prstGeom>
          <a:noFill/>
          <a:ln/>
        </p:spPr>
        <p:txBody>
          <a:bodyPr wrap="square" lIns="0" tIns="0" rIns="0" bIns="0" rtlCol="0" anchor="ctr"/>
          <a:lstStyle/>
          <a:p>
            <a:pPr indent="0" marL="0">
              <a:buNone/>
            </a:pPr>
            <a:r>
              <a:rPr lang="en-US" sz="1300" b="1" spc="300" kern="0" dirty="0">
                <a:solidFill>
                  <a:srgbClr val="16B5A5"/>
                </a:solidFill>
                <a:latin typeface="Calibri" pitchFamily="34" charset="0"/>
                <a:ea typeface="Calibri" pitchFamily="34" charset="-122"/>
                <a:cs typeface="Calibri" pitchFamily="34" charset="-120"/>
              </a:rPr>
              <a:t>WHAT WE LEARNED</a:t>
            </a:r>
            <a:endParaRPr lang="en-US" sz="1300" dirty="0"/>
          </a:p>
        </p:txBody>
      </p:sp>
      <p:sp>
        <p:nvSpPr>
          <p:cNvPr id="4" name="Text 2"/>
          <p:cNvSpPr/>
          <p:nvPr/>
        </p:nvSpPr>
        <p:spPr>
          <a:xfrm>
            <a:off x="594360" y="896112"/>
            <a:ext cx="10972800" cy="777240"/>
          </a:xfrm>
          <a:prstGeom prst="rect">
            <a:avLst/>
          </a:prstGeom>
          <a:noFill/>
          <a:ln/>
        </p:spPr>
        <p:txBody>
          <a:bodyPr wrap="square" lIns="0" tIns="0" rIns="0" bIns="0" rtlCol="0" anchor="ctr"/>
          <a:lstStyle/>
          <a:p>
            <a:pPr indent="0" marL="0">
              <a:lnSpc>
                <a:spcPct val="103000"/>
              </a:lnSpc>
              <a:buNone/>
            </a:pPr>
            <a:r>
              <a:rPr lang="en-US" sz="2400" b="1" dirty="0">
                <a:solidFill>
                  <a:srgbClr val="FFFFFF"/>
                </a:solidFill>
                <a:latin typeface="Cambria" pitchFamily="34" charset="0"/>
                <a:ea typeface="Cambria" pitchFamily="34" charset="-122"/>
                <a:cs typeface="Cambria" pitchFamily="34" charset="-120"/>
              </a:rPr>
              <a:t>Strength: the retrieval pipeline and an honest clinical framing.  Frontier: the severe class.</a:t>
            </a:r>
            <a:endParaRPr lang="en-US" sz="2400" dirty="0"/>
          </a:p>
        </p:txBody>
      </p:sp>
      <p:sp>
        <p:nvSpPr>
          <p:cNvPr id="5" name="Shape 3"/>
          <p:cNvSpPr/>
          <p:nvPr/>
        </p:nvSpPr>
        <p:spPr>
          <a:xfrm>
            <a:off x="594360" y="1956816"/>
            <a:ext cx="566928" cy="566928"/>
          </a:xfrm>
          <a:prstGeom prst="ellipse">
            <a:avLst/>
          </a:prstGeom>
          <a:solidFill>
            <a:srgbClr val="16B5A5"/>
          </a:solidFill>
          <a:ln/>
        </p:spPr>
      </p:sp>
      <p:sp>
        <p:nvSpPr>
          <p:cNvPr id="6" name="Text 4"/>
          <p:cNvSpPr/>
          <p:nvPr/>
        </p:nvSpPr>
        <p:spPr>
          <a:xfrm>
            <a:off x="594360" y="1956816"/>
            <a:ext cx="566928" cy="566928"/>
          </a:xfrm>
          <a:prstGeom prst="rect">
            <a:avLst/>
          </a:prstGeom>
          <a:noFill/>
          <a:ln/>
        </p:spPr>
        <p:txBody>
          <a:bodyPr wrap="square" lIns="0" tIns="0" rIns="0" bIns="0" rtlCol="0" anchor="ctr"/>
          <a:lstStyle/>
          <a:p>
            <a:pPr algn="ctr" indent="0" marL="0">
              <a:buNone/>
            </a:pPr>
            <a:r>
              <a:rPr lang="en-US" sz="2200" b="1" dirty="0">
                <a:solidFill>
                  <a:srgbClr val="0B3B45"/>
                </a:solidFill>
                <a:latin typeface="Cambria" pitchFamily="34" charset="0"/>
                <a:ea typeface="Cambria" pitchFamily="34" charset="-122"/>
                <a:cs typeface="Cambria" pitchFamily="34" charset="-120"/>
              </a:rPr>
              <a:t>1</a:t>
            </a:r>
            <a:endParaRPr lang="en-US" sz="2200" dirty="0"/>
          </a:p>
        </p:txBody>
      </p:sp>
      <p:sp>
        <p:nvSpPr>
          <p:cNvPr id="7" name="Text 5"/>
          <p:cNvSpPr/>
          <p:nvPr/>
        </p:nvSpPr>
        <p:spPr>
          <a:xfrm>
            <a:off x="1371600" y="1920240"/>
            <a:ext cx="10058400" cy="804672"/>
          </a:xfrm>
          <a:prstGeom prst="rect">
            <a:avLst/>
          </a:prstGeom>
          <a:noFill/>
          <a:ln/>
        </p:spPr>
        <p:txBody>
          <a:bodyPr wrap="square" lIns="0" tIns="0" rIns="0" bIns="0" rtlCol="0" anchor="ctr"/>
          <a:lstStyle/>
          <a:p>
            <a:pPr indent="0" marL="0">
              <a:lnSpc>
                <a:spcPct val="100000"/>
              </a:lnSpc>
              <a:buNone/>
            </a:pPr>
            <a:r>
              <a:rPr lang="en-US" sz="1350" b="1" dirty="0">
                <a:solidFill>
                  <a:srgbClr val="FFFFFF"/>
                </a:solidFill>
                <a:latin typeface="Calibri" pitchFamily="34" charset="0"/>
                <a:ea typeface="Calibri" pitchFamily="34" charset="-122"/>
                <a:cs typeface="Calibri" pitchFamily="34" charset="-120"/>
              </a:rPr>
              <a:t>Retrieval is the one rock-solid lever   </a:t>
            </a:r>
            <a:pPr indent="0" marL="0">
              <a:lnSpc>
                <a:spcPct val="100000"/>
              </a:lnSpc>
              <a:buNone/>
            </a:pPr>
            <a:r>
              <a:rPr lang="en-US" sz="1350" dirty="0">
                <a:solidFill>
                  <a:srgbClr val="AFCFCF"/>
                </a:solidFill>
                <a:latin typeface="Calibri" pitchFamily="34" charset="0"/>
                <a:ea typeface="Calibri" pitchFamily="34" charset="-122"/>
                <a:cs typeface="Calibri" pitchFamily="34" charset="-120"/>
              </a:rPr>
              <a:t>Semantic evidence — not a bigger model — drives the gain and survives the bootstrap with room to spare.</a:t>
            </a:r>
            <a:endParaRPr lang="en-US" sz="1350" dirty="0"/>
          </a:p>
        </p:txBody>
      </p:sp>
      <p:sp>
        <p:nvSpPr>
          <p:cNvPr id="8" name="Shape 6"/>
          <p:cNvSpPr/>
          <p:nvPr/>
        </p:nvSpPr>
        <p:spPr>
          <a:xfrm>
            <a:off x="594360" y="2871216"/>
            <a:ext cx="566928" cy="566928"/>
          </a:xfrm>
          <a:prstGeom prst="ellipse">
            <a:avLst/>
          </a:prstGeom>
          <a:solidFill>
            <a:srgbClr val="16B5A5"/>
          </a:solidFill>
          <a:ln/>
        </p:spPr>
      </p:sp>
      <p:sp>
        <p:nvSpPr>
          <p:cNvPr id="9" name="Text 7"/>
          <p:cNvSpPr/>
          <p:nvPr/>
        </p:nvSpPr>
        <p:spPr>
          <a:xfrm>
            <a:off x="594360" y="2871216"/>
            <a:ext cx="566928" cy="566928"/>
          </a:xfrm>
          <a:prstGeom prst="rect">
            <a:avLst/>
          </a:prstGeom>
          <a:noFill/>
          <a:ln/>
        </p:spPr>
        <p:txBody>
          <a:bodyPr wrap="square" lIns="0" tIns="0" rIns="0" bIns="0" rtlCol="0" anchor="ctr"/>
          <a:lstStyle/>
          <a:p>
            <a:pPr algn="ctr" indent="0" marL="0">
              <a:buNone/>
            </a:pPr>
            <a:r>
              <a:rPr lang="en-US" sz="2200" b="1" dirty="0">
                <a:solidFill>
                  <a:srgbClr val="0B3B45"/>
                </a:solidFill>
                <a:latin typeface="Cambria" pitchFamily="34" charset="0"/>
                <a:ea typeface="Cambria" pitchFamily="34" charset="-122"/>
                <a:cs typeface="Cambria" pitchFamily="34" charset="-120"/>
              </a:rPr>
              <a:t>2</a:t>
            </a:r>
            <a:endParaRPr lang="en-US" sz="2200" dirty="0"/>
          </a:p>
        </p:txBody>
      </p:sp>
      <p:sp>
        <p:nvSpPr>
          <p:cNvPr id="10" name="Text 8"/>
          <p:cNvSpPr/>
          <p:nvPr/>
        </p:nvSpPr>
        <p:spPr>
          <a:xfrm>
            <a:off x="1371600" y="2834640"/>
            <a:ext cx="10058400" cy="804672"/>
          </a:xfrm>
          <a:prstGeom prst="rect">
            <a:avLst/>
          </a:prstGeom>
          <a:noFill/>
          <a:ln/>
        </p:spPr>
        <p:txBody>
          <a:bodyPr wrap="square" lIns="0" tIns="0" rIns="0" bIns="0" rtlCol="0" anchor="ctr"/>
          <a:lstStyle/>
          <a:p>
            <a:pPr indent="0" marL="0">
              <a:lnSpc>
                <a:spcPct val="100000"/>
              </a:lnSpc>
              <a:buNone/>
            </a:pPr>
            <a:r>
              <a:rPr lang="en-US" sz="1350" b="1" dirty="0">
                <a:solidFill>
                  <a:srgbClr val="FFFFFF"/>
                </a:solidFill>
                <a:latin typeface="Calibri" pitchFamily="34" charset="0"/>
                <a:ea typeface="Calibri" pitchFamily="34" charset="-122"/>
                <a:cs typeface="Calibri" pitchFamily="34" charset="-120"/>
              </a:rPr>
              <a:t>Ordinally coherent, but severe-blind   </a:t>
            </a:r>
            <a:pPr indent="0" marL="0">
              <a:lnSpc>
                <a:spcPct val="100000"/>
              </a:lnSpc>
              <a:buNone/>
            </a:pPr>
            <a:r>
              <a:rPr lang="en-US" sz="1350" dirty="0">
                <a:solidFill>
                  <a:srgbClr val="AFCFCF"/>
                </a:solidFill>
                <a:latin typeface="Calibri" pitchFamily="34" charset="0"/>
                <a:ea typeface="Calibri" pitchFamily="34" charset="-122"/>
                <a:cs typeface="Calibri" pitchFamily="34" charset="-120"/>
              </a:rPr>
              <a:t>Errors stay adjacent (88% within-one); the 9.5% severe tail is the recurring bottleneck.</a:t>
            </a:r>
            <a:endParaRPr lang="en-US" sz="1350" dirty="0"/>
          </a:p>
        </p:txBody>
      </p:sp>
      <p:sp>
        <p:nvSpPr>
          <p:cNvPr id="11" name="Shape 9"/>
          <p:cNvSpPr/>
          <p:nvPr/>
        </p:nvSpPr>
        <p:spPr>
          <a:xfrm>
            <a:off x="594360" y="3785616"/>
            <a:ext cx="566928" cy="566928"/>
          </a:xfrm>
          <a:prstGeom prst="ellipse">
            <a:avLst/>
          </a:prstGeom>
          <a:solidFill>
            <a:srgbClr val="16B5A5"/>
          </a:solidFill>
          <a:ln/>
        </p:spPr>
      </p:sp>
      <p:sp>
        <p:nvSpPr>
          <p:cNvPr id="12" name="Text 10"/>
          <p:cNvSpPr/>
          <p:nvPr/>
        </p:nvSpPr>
        <p:spPr>
          <a:xfrm>
            <a:off x="594360" y="3785616"/>
            <a:ext cx="566928" cy="566928"/>
          </a:xfrm>
          <a:prstGeom prst="rect">
            <a:avLst/>
          </a:prstGeom>
          <a:noFill/>
          <a:ln/>
        </p:spPr>
        <p:txBody>
          <a:bodyPr wrap="square" lIns="0" tIns="0" rIns="0" bIns="0" rtlCol="0" anchor="ctr"/>
          <a:lstStyle/>
          <a:p>
            <a:pPr algn="ctr" indent="0" marL="0">
              <a:buNone/>
            </a:pPr>
            <a:r>
              <a:rPr lang="en-US" sz="2200" b="1" dirty="0">
                <a:solidFill>
                  <a:srgbClr val="0B3B45"/>
                </a:solidFill>
                <a:latin typeface="Cambria" pitchFamily="34" charset="0"/>
                <a:ea typeface="Cambria" pitchFamily="34" charset="-122"/>
                <a:cs typeface="Cambria" pitchFamily="34" charset="-120"/>
              </a:rPr>
              <a:t>3</a:t>
            </a:r>
            <a:endParaRPr lang="en-US" sz="2200" dirty="0"/>
          </a:p>
        </p:txBody>
      </p:sp>
      <p:sp>
        <p:nvSpPr>
          <p:cNvPr id="13" name="Text 11"/>
          <p:cNvSpPr/>
          <p:nvPr/>
        </p:nvSpPr>
        <p:spPr>
          <a:xfrm>
            <a:off x="1371600" y="3749040"/>
            <a:ext cx="10058400" cy="804672"/>
          </a:xfrm>
          <a:prstGeom prst="rect">
            <a:avLst/>
          </a:prstGeom>
          <a:noFill/>
          <a:ln/>
        </p:spPr>
        <p:txBody>
          <a:bodyPr wrap="square" lIns="0" tIns="0" rIns="0" bIns="0" rtlCol="0" anchor="ctr"/>
          <a:lstStyle/>
          <a:p>
            <a:pPr indent="0" marL="0">
              <a:lnSpc>
                <a:spcPct val="100000"/>
              </a:lnSpc>
              <a:buNone/>
            </a:pPr>
            <a:r>
              <a:rPr lang="en-US" sz="1350" b="1" dirty="0">
                <a:solidFill>
                  <a:srgbClr val="FFFFFF"/>
                </a:solidFill>
                <a:latin typeface="Calibri" pitchFamily="34" charset="0"/>
                <a:ea typeface="Calibri" pitchFamily="34" charset="-122"/>
                <a:cs typeface="Calibri" pitchFamily="34" charset="-120"/>
              </a:rPr>
              <a:t>Complementary models must be conditioned, not blended   </a:t>
            </a:r>
            <a:pPr indent="0" marL="0">
              <a:lnSpc>
                <a:spcPct val="100000"/>
              </a:lnSpc>
              <a:buNone/>
            </a:pPr>
            <a:r>
              <a:rPr lang="en-US" sz="1350" dirty="0">
                <a:solidFill>
                  <a:srgbClr val="AFCFCF"/>
                </a:solidFill>
                <a:latin typeface="Calibri" pitchFamily="34" charset="0"/>
                <a:ea typeface="Calibri" pitchFamily="34" charset="-122"/>
                <a:cs typeface="Calibri" pitchFamily="34" charset="-120"/>
              </a:rPr>
              <a:t>Encoder + CoT are right on different items; routing / MIL exploit this, a scalar blend does not.</a:t>
            </a:r>
            <a:endParaRPr lang="en-US" sz="1350" dirty="0"/>
          </a:p>
        </p:txBody>
      </p:sp>
      <p:sp>
        <p:nvSpPr>
          <p:cNvPr id="14" name="Shape 12"/>
          <p:cNvSpPr/>
          <p:nvPr/>
        </p:nvSpPr>
        <p:spPr>
          <a:xfrm>
            <a:off x="594360" y="4700016"/>
            <a:ext cx="566928" cy="566928"/>
          </a:xfrm>
          <a:prstGeom prst="ellipse">
            <a:avLst/>
          </a:prstGeom>
          <a:solidFill>
            <a:srgbClr val="16B5A5"/>
          </a:solidFill>
          <a:ln/>
        </p:spPr>
      </p:sp>
      <p:sp>
        <p:nvSpPr>
          <p:cNvPr id="15" name="Text 13"/>
          <p:cNvSpPr/>
          <p:nvPr/>
        </p:nvSpPr>
        <p:spPr>
          <a:xfrm>
            <a:off x="594360" y="4700016"/>
            <a:ext cx="566928" cy="566928"/>
          </a:xfrm>
          <a:prstGeom prst="rect">
            <a:avLst/>
          </a:prstGeom>
          <a:noFill/>
          <a:ln/>
        </p:spPr>
        <p:txBody>
          <a:bodyPr wrap="square" lIns="0" tIns="0" rIns="0" bIns="0" rtlCol="0" anchor="ctr"/>
          <a:lstStyle/>
          <a:p>
            <a:pPr algn="ctr" indent="0" marL="0">
              <a:buNone/>
            </a:pPr>
            <a:r>
              <a:rPr lang="en-US" sz="2200" b="1" dirty="0">
                <a:solidFill>
                  <a:srgbClr val="0B3B45"/>
                </a:solidFill>
                <a:latin typeface="Cambria" pitchFamily="34" charset="0"/>
                <a:ea typeface="Cambria" pitchFamily="34" charset="-122"/>
                <a:cs typeface="Cambria" pitchFamily="34" charset="-120"/>
              </a:rPr>
              <a:t>4</a:t>
            </a:r>
            <a:endParaRPr lang="en-US" sz="2200" dirty="0"/>
          </a:p>
        </p:txBody>
      </p:sp>
      <p:sp>
        <p:nvSpPr>
          <p:cNvPr id="16" name="Text 14"/>
          <p:cNvSpPr/>
          <p:nvPr/>
        </p:nvSpPr>
        <p:spPr>
          <a:xfrm>
            <a:off x="1371600" y="4663440"/>
            <a:ext cx="10058400" cy="804672"/>
          </a:xfrm>
          <a:prstGeom prst="rect">
            <a:avLst/>
          </a:prstGeom>
          <a:noFill/>
          <a:ln/>
        </p:spPr>
        <p:txBody>
          <a:bodyPr wrap="square" lIns="0" tIns="0" rIns="0" bIns="0" rtlCol="0" anchor="ctr"/>
          <a:lstStyle/>
          <a:p>
            <a:pPr indent="0" marL="0">
              <a:lnSpc>
                <a:spcPct val="100000"/>
              </a:lnSpc>
              <a:buNone/>
            </a:pPr>
            <a:r>
              <a:rPr lang="en-US" sz="1350" b="1" dirty="0">
                <a:solidFill>
                  <a:srgbClr val="FFFFFF"/>
                </a:solidFill>
                <a:latin typeface="Calibri" pitchFamily="34" charset="0"/>
                <a:ea typeface="Calibri" pitchFamily="34" charset="-122"/>
                <a:cs typeface="Calibri" pitchFamily="34" charset="-120"/>
              </a:rPr>
              <a:t>Clinically usable as a calibrated, deferring screener   </a:t>
            </a:r>
            <a:pPr indent="0" marL="0">
              <a:lnSpc>
                <a:spcPct val="100000"/>
              </a:lnSpc>
              <a:buNone/>
            </a:pPr>
            <a:r>
              <a:rPr lang="en-US" sz="1350" dirty="0">
                <a:solidFill>
                  <a:srgbClr val="AFCFCF"/>
                </a:solidFill>
                <a:latin typeface="Calibri" pitchFamily="34" charset="0"/>
                <a:ea typeface="Calibri" pitchFamily="34" charset="-122"/>
                <a:cs typeface="Calibri" pitchFamily="34" charset="-120"/>
              </a:rPr>
              <a:t>ECE 0.40→0.08, AUC 0.78, tunable to 86% sensitivity, defers its hardest cases to a human.</a:t>
            </a:r>
            <a:endParaRPr lang="en-US" sz="1350" dirty="0"/>
          </a:p>
        </p:txBody>
      </p:sp>
      <p:sp>
        <p:nvSpPr>
          <p:cNvPr id="17" name="Shape 15"/>
          <p:cNvSpPr/>
          <p:nvPr/>
        </p:nvSpPr>
        <p:spPr>
          <a:xfrm>
            <a:off x="594360" y="5614416"/>
            <a:ext cx="566928" cy="566928"/>
          </a:xfrm>
          <a:prstGeom prst="ellipse">
            <a:avLst/>
          </a:prstGeom>
          <a:solidFill>
            <a:srgbClr val="16B5A5"/>
          </a:solidFill>
          <a:ln/>
        </p:spPr>
      </p:sp>
      <p:sp>
        <p:nvSpPr>
          <p:cNvPr id="18" name="Text 16"/>
          <p:cNvSpPr/>
          <p:nvPr/>
        </p:nvSpPr>
        <p:spPr>
          <a:xfrm>
            <a:off x="594360" y="5614416"/>
            <a:ext cx="566928" cy="566928"/>
          </a:xfrm>
          <a:prstGeom prst="rect">
            <a:avLst/>
          </a:prstGeom>
          <a:noFill/>
          <a:ln/>
        </p:spPr>
        <p:txBody>
          <a:bodyPr wrap="square" lIns="0" tIns="0" rIns="0" bIns="0" rtlCol="0" anchor="ctr"/>
          <a:lstStyle/>
          <a:p>
            <a:pPr algn="ctr" indent="0" marL="0">
              <a:buNone/>
            </a:pPr>
            <a:r>
              <a:rPr lang="en-US" sz="2200" b="1" dirty="0">
                <a:solidFill>
                  <a:srgbClr val="0B3B45"/>
                </a:solidFill>
                <a:latin typeface="Cambria" pitchFamily="34" charset="0"/>
                <a:ea typeface="Cambria" pitchFamily="34" charset="-122"/>
                <a:cs typeface="Cambria" pitchFamily="34" charset="-120"/>
              </a:rPr>
              <a:t>5</a:t>
            </a:r>
            <a:endParaRPr lang="en-US" sz="2200" dirty="0"/>
          </a:p>
        </p:txBody>
      </p:sp>
      <p:sp>
        <p:nvSpPr>
          <p:cNvPr id="19" name="Text 17"/>
          <p:cNvSpPr/>
          <p:nvPr/>
        </p:nvSpPr>
        <p:spPr>
          <a:xfrm>
            <a:off x="1371600" y="5577840"/>
            <a:ext cx="10058400" cy="804672"/>
          </a:xfrm>
          <a:prstGeom prst="rect">
            <a:avLst/>
          </a:prstGeom>
          <a:noFill/>
          <a:ln/>
        </p:spPr>
        <p:txBody>
          <a:bodyPr wrap="square" lIns="0" tIns="0" rIns="0" bIns="0" rtlCol="0" anchor="ctr"/>
          <a:lstStyle/>
          <a:p>
            <a:pPr indent="0" marL="0">
              <a:lnSpc>
                <a:spcPct val="100000"/>
              </a:lnSpc>
              <a:buNone/>
            </a:pPr>
            <a:r>
              <a:rPr lang="en-US" sz="1350" b="1" dirty="0">
                <a:solidFill>
                  <a:srgbClr val="FFFFFF"/>
                </a:solidFill>
                <a:latin typeface="Calibri" pitchFamily="34" charset="0"/>
                <a:ea typeface="Calibri" pitchFamily="34" charset="-122"/>
                <a:cs typeface="Calibri" pitchFamily="34" charset="-120"/>
              </a:rPr>
              <a:t>The frontier is interpretable + severe-targeted   </a:t>
            </a:r>
            <a:pPr indent="0" marL="0">
              <a:lnSpc>
                <a:spcPct val="100000"/>
              </a:lnSpc>
              <a:buNone/>
            </a:pPr>
            <a:r>
              <a:rPr lang="en-US" sz="1350" dirty="0">
                <a:solidFill>
                  <a:srgbClr val="AFCFCF"/>
                </a:solidFill>
                <a:latin typeface="Calibri" pitchFamily="34" charset="0"/>
                <a:ea typeface="Calibri" pitchFamily="34" charset="-122"/>
                <a:cs typeface="Calibri" pitchFamily="34" charset="-120"/>
              </a:rPr>
              <a:t>Attention-MIL points at its evidence and wins overall; Sleep/Appetite difficulty is intrinsic, not retrieval.</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292608"/>
          </a:xfrm>
          <a:prstGeom prst="rect">
            <a:avLst/>
          </a:prstGeom>
          <a:noFill/>
          <a:ln/>
        </p:spPr>
        <p:txBody>
          <a:bodyPr wrap="square" lIns="0" tIns="0" rIns="0" bIns="0" rtlCol="0" anchor="ctr"/>
          <a:lstStyle/>
          <a:p>
            <a:pPr indent="0" marL="0">
              <a:buNone/>
            </a:pPr>
            <a:r>
              <a:rPr lang="en-US" sz="1250" b="1" spc="200" kern="0" dirty="0">
                <a:solidFill>
                  <a:srgbClr val="0D7D87"/>
                </a:solidFill>
                <a:latin typeface="Calibri" pitchFamily="34" charset="0"/>
                <a:ea typeface="Calibri" pitchFamily="34" charset="-122"/>
                <a:cs typeface="Calibri" pitchFamily="34" charset="-120"/>
              </a:rPr>
              <a:t>APPENDIX · HOW EACH METHOD WORKS</a:t>
            </a:r>
            <a:endParaRPr lang="en-US" sz="1250" dirty="0"/>
          </a:p>
        </p:txBody>
      </p:sp>
      <p:sp>
        <p:nvSpPr>
          <p:cNvPr id="3" name="Text 1"/>
          <p:cNvSpPr/>
          <p:nvPr/>
        </p:nvSpPr>
        <p:spPr>
          <a:xfrm>
            <a:off x="594360" y="676656"/>
            <a:ext cx="10972800" cy="713232"/>
          </a:xfrm>
          <a:prstGeom prst="rect">
            <a:avLst/>
          </a:prstGeom>
          <a:noFill/>
          <a:ln/>
        </p:spPr>
        <p:txBody>
          <a:bodyPr wrap="square" lIns="0" tIns="0" rIns="0" bIns="0" rtlCol="0" anchor="ctr"/>
          <a:lstStyle/>
          <a:p>
            <a:pPr indent="0" marL="0">
              <a:buNone/>
            </a:pPr>
            <a:r>
              <a:rPr lang="en-US" sz="2600" b="1" dirty="0">
                <a:solidFill>
                  <a:srgbClr val="0F172A"/>
                </a:solidFill>
                <a:latin typeface="Cambria" pitchFamily="34" charset="0"/>
                <a:ea typeface="Cambria" pitchFamily="34" charset="-122"/>
                <a:cs typeface="Cambria" pitchFamily="34" charset="-120"/>
              </a:rPr>
              <a:t>Models &amp; losses</a:t>
            </a:r>
            <a:endParaRPr lang="en-US" sz="2600" dirty="0"/>
          </a:p>
        </p:txBody>
      </p:sp>
      <p:sp>
        <p:nvSpPr>
          <p:cNvPr id="4" name="Shape 2"/>
          <p:cNvSpPr/>
          <p:nvPr/>
        </p:nvSpPr>
        <p:spPr>
          <a:xfrm>
            <a:off x="594360" y="1572768"/>
            <a:ext cx="5303520" cy="2194560"/>
          </a:xfrm>
          <a:prstGeom prst="roundRect">
            <a:avLst>
              <a:gd name="adj" fmla="val 2917"/>
            </a:avLst>
          </a:prstGeom>
          <a:solidFill>
            <a:srgbClr val="EEF6F6"/>
          </a:solidFill>
          <a:ln/>
          <a:effectLst>
            <a:outerShdw sx="100000" sy="100000" kx="0" ky="0" algn="bl" rotWithShape="0" blurRad="114300" dist="38100" dir="5400000">
              <a:srgbClr val="0B3B45">
                <a:alpha val="14000"/>
              </a:srgbClr>
            </a:outerShdw>
          </a:effectLst>
        </p:spPr>
      </p:sp>
      <p:sp>
        <p:nvSpPr>
          <p:cNvPr id="5" name="Text 3"/>
          <p:cNvSpPr/>
          <p:nvPr/>
        </p:nvSpPr>
        <p:spPr>
          <a:xfrm>
            <a:off x="822960" y="1737360"/>
            <a:ext cx="4846320" cy="365760"/>
          </a:xfrm>
          <a:prstGeom prst="rect">
            <a:avLst/>
          </a:prstGeom>
          <a:noFill/>
          <a:ln/>
        </p:spPr>
        <p:txBody>
          <a:bodyPr wrap="square" lIns="0" tIns="0" rIns="0" bIns="0" rtlCol="0" anchor="ctr"/>
          <a:lstStyle/>
          <a:p>
            <a:pPr indent="0" marL="0">
              <a:buNone/>
            </a:pPr>
            <a:r>
              <a:rPr lang="en-US" sz="1500" b="1" dirty="0">
                <a:solidFill>
                  <a:srgbClr val="0F172A"/>
                </a:solidFill>
                <a:latin typeface="Cambria" pitchFamily="34" charset="0"/>
                <a:ea typeface="Cambria" pitchFamily="34" charset="-122"/>
                <a:cs typeface="Cambria" pitchFamily="34" charset="-120"/>
              </a:rPr>
              <a:t>Encoder + CORN</a:t>
            </a:r>
            <a:pPr indent="0" marL="0">
              <a:buNone/>
            </a:pPr>
            <a:r>
              <a:rPr lang="en-US" sz="1500" i="1" dirty="0">
                <a:solidFill>
                  <a:srgbClr val="0D7D87"/>
                </a:solidFill>
                <a:latin typeface="Cambria" pitchFamily="34" charset="0"/>
                <a:ea typeface="Cambria" pitchFamily="34" charset="-122"/>
                <a:cs typeface="Cambria" pitchFamily="34" charset="-120"/>
              </a:rPr>
              <a:t>   baseline</a:t>
            </a:r>
            <a:endParaRPr lang="en-US" sz="1500" dirty="0"/>
          </a:p>
        </p:txBody>
      </p:sp>
      <p:sp>
        <p:nvSpPr>
          <p:cNvPr id="6" name="Text 4"/>
          <p:cNvSpPr/>
          <p:nvPr/>
        </p:nvSpPr>
        <p:spPr>
          <a:xfrm>
            <a:off x="822960" y="2176272"/>
            <a:ext cx="4846320" cy="1417320"/>
          </a:xfrm>
          <a:prstGeom prst="rect">
            <a:avLst/>
          </a:prstGeom>
          <a:noFill/>
          <a:ln/>
        </p:spPr>
        <p:txBody>
          <a:bodyPr wrap="square" lIns="0" tIns="0" rIns="0" bIns="0" rtlCol="0" anchor="t"/>
          <a:lstStyle/>
          <a:p>
            <a:pPr indent="0" marL="0">
              <a:lnSpc>
                <a:spcPct val="104000"/>
              </a:lnSpc>
              <a:buNone/>
            </a:pPr>
            <a:r>
              <a:rPr lang="en-US" sz="1200" dirty="0">
                <a:solidFill>
                  <a:srgbClr val="0F172A"/>
                </a:solidFill>
                <a:latin typeface="Calibri" pitchFamily="34" charset="0"/>
                <a:ea typeface="Calibri" pitchFamily="34" charset="-122"/>
                <a:cs typeface="Calibri" pitchFamily="34" charset="-120"/>
              </a:rPr>
              <a:t>MentalBERT reads [CLS] symptom + evidence. The CORN head predicts three ordered thresholds — “&gt; 0?”, “&gt; 1?”, “&gt; 2?” — instead of a flat 4-way softmax. The ordering is why almost all errors are only one level off.</a:t>
            </a:r>
            <a:endParaRPr lang="en-US" sz="1200" dirty="0"/>
          </a:p>
        </p:txBody>
      </p:sp>
      <p:sp>
        <p:nvSpPr>
          <p:cNvPr id="7" name="Shape 5"/>
          <p:cNvSpPr/>
          <p:nvPr/>
        </p:nvSpPr>
        <p:spPr>
          <a:xfrm>
            <a:off x="6263640" y="1572768"/>
            <a:ext cx="5303520" cy="2194560"/>
          </a:xfrm>
          <a:prstGeom prst="roundRect">
            <a:avLst>
              <a:gd name="adj" fmla="val 2917"/>
            </a:avLst>
          </a:prstGeom>
          <a:solidFill>
            <a:srgbClr val="EEF6F6"/>
          </a:solidFill>
          <a:ln/>
          <a:effectLst>
            <a:outerShdw sx="100000" sy="100000" kx="0" ky="0" algn="bl" rotWithShape="0" blurRad="114300" dist="38100" dir="5400000">
              <a:srgbClr val="0B3B45">
                <a:alpha val="14000"/>
              </a:srgbClr>
            </a:outerShdw>
          </a:effectLst>
        </p:spPr>
      </p:sp>
      <p:sp>
        <p:nvSpPr>
          <p:cNvPr id="8" name="Text 6"/>
          <p:cNvSpPr/>
          <p:nvPr/>
        </p:nvSpPr>
        <p:spPr>
          <a:xfrm>
            <a:off x="6492240" y="1737360"/>
            <a:ext cx="4846320" cy="365760"/>
          </a:xfrm>
          <a:prstGeom prst="rect">
            <a:avLst/>
          </a:prstGeom>
          <a:noFill/>
          <a:ln/>
        </p:spPr>
        <p:txBody>
          <a:bodyPr wrap="square" lIns="0" tIns="0" rIns="0" bIns="0" rtlCol="0" anchor="ctr"/>
          <a:lstStyle/>
          <a:p>
            <a:pPr indent="0" marL="0">
              <a:buNone/>
            </a:pPr>
            <a:r>
              <a:rPr lang="en-US" sz="1500" b="1" dirty="0">
                <a:solidFill>
                  <a:srgbClr val="0F172A"/>
                </a:solidFill>
                <a:latin typeface="Cambria" pitchFamily="34" charset="0"/>
                <a:ea typeface="Cambria" pitchFamily="34" charset="-122"/>
                <a:cs typeface="Cambria" pitchFamily="34" charset="-120"/>
              </a:rPr>
              <a:t>Balanced CORN</a:t>
            </a:r>
            <a:pPr indent="0" marL="0">
              <a:buNone/>
            </a:pPr>
            <a:r>
              <a:rPr lang="en-US" sz="1500" i="1" dirty="0">
                <a:solidFill>
                  <a:srgbClr val="0D7D87"/>
                </a:solidFill>
                <a:latin typeface="Cambria" pitchFamily="34" charset="0"/>
                <a:ea typeface="Cambria" pitchFamily="34" charset="-122"/>
                <a:cs typeface="Cambria" pitchFamily="34" charset="-120"/>
              </a:rPr>
              <a:t>   severe recall</a:t>
            </a:r>
            <a:endParaRPr lang="en-US" sz="1500" dirty="0"/>
          </a:p>
        </p:txBody>
      </p:sp>
      <p:sp>
        <p:nvSpPr>
          <p:cNvPr id="9" name="Text 7"/>
          <p:cNvSpPr/>
          <p:nvPr/>
        </p:nvSpPr>
        <p:spPr>
          <a:xfrm>
            <a:off x="6492240" y="2176272"/>
            <a:ext cx="4846320" cy="1417320"/>
          </a:xfrm>
          <a:prstGeom prst="rect">
            <a:avLst/>
          </a:prstGeom>
          <a:noFill/>
          <a:ln/>
        </p:spPr>
        <p:txBody>
          <a:bodyPr wrap="square" lIns="0" tIns="0" rIns="0" bIns="0" rtlCol="0" anchor="t"/>
          <a:lstStyle/>
          <a:p>
            <a:pPr indent="0" marL="0">
              <a:lnSpc>
                <a:spcPct val="104000"/>
              </a:lnSpc>
              <a:buNone/>
            </a:pPr>
            <a:r>
              <a:rPr lang="en-US" sz="1200" dirty="0">
                <a:solidFill>
                  <a:srgbClr val="0F172A"/>
                </a:solidFill>
                <a:latin typeface="Calibri" pitchFamily="34" charset="0"/>
                <a:ea typeface="Calibri" pitchFamily="34" charset="-122"/>
                <a:cs typeface="Calibri" pitchFamily="34" charset="-120"/>
              </a:rPr>
              <a:t>Weights each example by the inverse frequency of its class, so the rare 9.5% severe items aren’t drowned out. Pushes the boundaries to catch severe cases; costs some MAE.</a:t>
            </a:r>
            <a:endParaRPr lang="en-US" sz="1200" dirty="0"/>
          </a:p>
        </p:txBody>
      </p:sp>
      <p:sp>
        <p:nvSpPr>
          <p:cNvPr id="10" name="Shape 8"/>
          <p:cNvSpPr/>
          <p:nvPr/>
        </p:nvSpPr>
        <p:spPr>
          <a:xfrm>
            <a:off x="594360" y="4059936"/>
            <a:ext cx="5303520" cy="2194560"/>
          </a:xfrm>
          <a:prstGeom prst="roundRect">
            <a:avLst>
              <a:gd name="adj" fmla="val 2917"/>
            </a:avLst>
          </a:prstGeom>
          <a:solidFill>
            <a:srgbClr val="EEF6F6"/>
          </a:solidFill>
          <a:ln/>
          <a:effectLst>
            <a:outerShdw sx="100000" sy="100000" kx="0" ky="0" algn="bl" rotWithShape="0" blurRad="114300" dist="38100" dir="5400000">
              <a:srgbClr val="0B3B45">
                <a:alpha val="14000"/>
              </a:srgbClr>
            </a:outerShdw>
          </a:effectLst>
        </p:spPr>
      </p:sp>
      <p:sp>
        <p:nvSpPr>
          <p:cNvPr id="11" name="Text 9"/>
          <p:cNvSpPr/>
          <p:nvPr/>
        </p:nvSpPr>
        <p:spPr>
          <a:xfrm>
            <a:off x="822960" y="4224528"/>
            <a:ext cx="4846320" cy="365760"/>
          </a:xfrm>
          <a:prstGeom prst="rect">
            <a:avLst/>
          </a:prstGeom>
          <a:noFill/>
          <a:ln/>
        </p:spPr>
        <p:txBody>
          <a:bodyPr wrap="square" lIns="0" tIns="0" rIns="0" bIns="0" rtlCol="0" anchor="ctr"/>
          <a:lstStyle/>
          <a:p>
            <a:pPr indent="0" marL="0">
              <a:buNone/>
            </a:pPr>
            <a:r>
              <a:rPr lang="en-US" sz="1500" b="1" dirty="0">
                <a:solidFill>
                  <a:srgbClr val="0F172A"/>
                </a:solidFill>
                <a:latin typeface="Cambria" pitchFamily="34" charset="0"/>
                <a:ea typeface="Cambria" pitchFamily="34" charset="-122"/>
                <a:cs typeface="Cambria" pitchFamily="34" charset="-120"/>
              </a:rPr>
              <a:t>Focal CORN</a:t>
            </a:r>
            <a:pPr indent="0" marL="0">
              <a:buNone/>
            </a:pPr>
            <a:r>
              <a:rPr lang="en-US" sz="1500" i="1" dirty="0">
                <a:solidFill>
                  <a:srgbClr val="0D7D87"/>
                </a:solidFill>
                <a:latin typeface="Cambria" pitchFamily="34" charset="0"/>
                <a:ea typeface="Cambria" pitchFamily="34" charset="-122"/>
                <a:cs typeface="Cambria" pitchFamily="34" charset="-120"/>
              </a:rPr>
              <a:t>   hard cases</a:t>
            </a:r>
            <a:endParaRPr lang="en-US" sz="1500" dirty="0"/>
          </a:p>
        </p:txBody>
      </p:sp>
      <p:sp>
        <p:nvSpPr>
          <p:cNvPr id="12" name="Text 10"/>
          <p:cNvSpPr/>
          <p:nvPr/>
        </p:nvSpPr>
        <p:spPr>
          <a:xfrm>
            <a:off x="822960" y="4663440"/>
            <a:ext cx="4846320" cy="1417320"/>
          </a:xfrm>
          <a:prstGeom prst="rect">
            <a:avLst/>
          </a:prstGeom>
          <a:noFill/>
          <a:ln/>
        </p:spPr>
        <p:txBody>
          <a:bodyPr wrap="square" lIns="0" tIns="0" rIns="0" bIns="0" rtlCol="0" anchor="t"/>
          <a:lstStyle/>
          <a:p>
            <a:pPr indent="0" marL="0">
              <a:lnSpc>
                <a:spcPct val="104000"/>
              </a:lnSpc>
              <a:buNone/>
            </a:pPr>
            <a:r>
              <a:rPr lang="en-US" sz="1200" dirty="0">
                <a:solidFill>
                  <a:srgbClr val="0F172A"/>
                </a:solidFill>
                <a:latin typeface="Calibri" pitchFamily="34" charset="0"/>
                <a:ea typeface="Calibri" pitchFamily="34" charset="-122"/>
                <a:cs typeface="Calibri" pitchFamily="34" charset="-120"/>
              </a:rPr>
              <a:t>Adds a focal factor (1−p)^γ that down-weights easy, already-confident threshold decisions, so training focuses on the ambiguous boundary cases. Best ordinal agreement (QWK).</a:t>
            </a:r>
            <a:endParaRPr lang="en-US" sz="1200" dirty="0"/>
          </a:p>
        </p:txBody>
      </p:sp>
      <p:sp>
        <p:nvSpPr>
          <p:cNvPr id="13" name="Shape 11"/>
          <p:cNvSpPr/>
          <p:nvPr/>
        </p:nvSpPr>
        <p:spPr>
          <a:xfrm>
            <a:off x="6263640" y="4059936"/>
            <a:ext cx="5303520" cy="2194560"/>
          </a:xfrm>
          <a:prstGeom prst="roundRect">
            <a:avLst>
              <a:gd name="adj" fmla="val 2917"/>
            </a:avLst>
          </a:prstGeom>
          <a:solidFill>
            <a:srgbClr val="EEF6F6"/>
          </a:solidFill>
          <a:ln/>
          <a:effectLst>
            <a:outerShdw sx="100000" sy="100000" kx="0" ky="0" algn="bl" rotWithShape="0" blurRad="114300" dist="38100" dir="5400000">
              <a:srgbClr val="0B3B45">
                <a:alpha val="14000"/>
              </a:srgbClr>
            </a:outerShdw>
          </a:effectLst>
        </p:spPr>
      </p:sp>
      <p:sp>
        <p:nvSpPr>
          <p:cNvPr id="14" name="Text 12"/>
          <p:cNvSpPr/>
          <p:nvPr/>
        </p:nvSpPr>
        <p:spPr>
          <a:xfrm>
            <a:off x="6492240" y="4224528"/>
            <a:ext cx="4846320" cy="365760"/>
          </a:xfrm>
          <a:prstGeom prst="rect">
            <a:avLst/>
          </a:prstGeom>
          <a:noFill/>
          <a:ln/>
        </p:spPr>
        <p:txBody>
          <a:bodyPr wrap="square" lIns="0" tIns="0" rIns="0" bIns="0" rtlCol="0" anchor="ctr"/>
          <a:lstStyle/>
          <a:p>
            <a:pPr indent="0" marL="0">
              <a:buNone/>
            </a:pPr>
            <a:r>
              <a:rPr lang="en-US" sz="1500" b="1" dirty="0">
                <a:solidFill>
                  <a:srgbClr val="0F172A"/>
                </a:solidFill>
                <a:latin typeface="Cambria" pitchFamily="34" charset="0"/>
                <a:ea typeface="Cambria" pitchFamily="34" charset="-122"/>
                <a:cs typeface="Cambria" pitchFamily="34" charset="-120"/>
              </a:rPr>
              <a:t>CoT probe — Qwen2.5-7B</a:t>
            </a:r>
            <a:pPr indent="0" marL="0">
              <a:buNone/>
            </a:pPr>
            <a:r>
              <a:rPr lang="en-US" sz="1500" i="1" dirty="0">
                <a:solidFill>
                  <a:srgbClr val="0D7D87"/>
                </a:solidFill>
                <a:latin typeface="Cambria" pitchFamily="34" charset="0"/>
                <a:ea typeface="Cambria" pitchFamily="34" charset="-122"/>
                <a:cs typeface="Cambria" pitchFamily="34" charset="-120"/>
              </a:rPr>
              <a:t>   frozen LLM</a:t>
            </a:r>
            <a:endParaRPr lang="en-US" sz="1500" dirty="0"/>
          </a:p>
        </p:txBody>
      </p:sp>
      <p:sp>
        <p:nvSpPr>
          <p:cNvPr id="15" name="Text 13"/>
          <p:cNvSpPr/>
          <p:nvPr/>
        </p:nvSpPr>
        <p:spPr>
          <a:xfrm>
            <a:off x="6492240" y="4663440"/>
            <a:ext cx="4846320" cy="1417320"/>
          </a:xfrm>
          <a:prstGeom prst="rect">
            <a:avLst/>
          </a:prstGeom>
          <a:noFill/>
          <a:ln/>
        </p:spPr>
        <p:txBody>
          <a:bodyPr wrap="square" lIns="0" tIns="0" rIns="0" bIns="0" rtlCol="0" anchor="t"/>
          <a:lstStyle/>
          <a:p>
            <a:pPr indent="0" marL="0">
              <a:lnSpc>
                <a:spcPct val="104000"/>
              </a:lnSpc>
              <a:buNone/>
            </a:pPr>
            <a:r>
              <a:rPr lang="en-US" sz="1200" dirty="0">
                <a:solidFill>
                  <a:srgbClr val="0F172A"/>
                </a:solidFill>
                <a:latin typeface="Calibri" pitchFamily="34" charset="0"/>
                <a:ea typeface="Calibri" pitchFamily="34" charset="-122"/>
                <a:cs typeface="Calibri" pitchFamily="34" charset="-120"/>
              </a:rPr>
              <a:t>A chat LLM reasons step-by-step over the same retrieved evidence, mapping it to the 0–3 frequency anchors via four few-shot demos. Decoded greedily or by a 5-sample self-consistency vote. No task training.</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292608"/>
          </a:xfrm>
          <a:prstGeom prst="rect">
            <a:avLst/>
          </a:prstGeom>
          <a:noFill/>
          <a:ln/>
        </p:spPr>
        <p:txBody>
          <a:bodyPr wrap="square" lIns="0" tIns="0" rIns="0" bIns="0" rtlCol="0" anchor="ctr"/>
          <a:lstStyle/>
          <a:p>
            <a:pPr indent="0" marL="0">
              <a:buNone/>
            </a:pPr>
            <a:r>
              <a:rPr lang="en-US" sz="1250" b="1" spc="200" kern="0" dirty="0">
                <a:solidFill>
                  <a:srgbClr val="0D7D87"/>
                </a:solidFill>
                <a:latin typeface="Calibri" pitchFamily="34" charset="0"/>
                <a:ea typeface="Calibri" pitchFamily="34" charset="-122"/>
                <a:cs typeface="Calibri" pitchFamily="34" charset="-120"/>
              </a:rPr>
              <a:t>APPENDIX · HOW EACH METHOD WORKS</a:t>
            </a:r>
            <a:endParaRPr lang="en-US" sz="1250" dirty="0"/>
          </a:p>
        </p:txBody>
      </p:sp>
      <p:sp>
        <p:nvSpPr>
          <p:cNvPr id="3" name="Text 1"/>
          <p:cNvSpPr/>
          <p:nvPr/>
        </p:nvSpPr>
        <p:spPr>
          <a:xfrm>
            <a:off x="594360" y="676656"/>
            <a:ext cx="10972800" cy="713232"/>
          </a:xfrm>
          <a:prstGeom prst="rect">
            <a:avLst/>
          </a:prstGeom>
          <a:noFill/>
          <a:ln/>
        </p:spPr>
        <p:txBody>
          <a:bodyPr wrap="square" lIns="0" tIns="0" rIns="0" bIns="0" rtlCol="0" anchor="ctr"/>
          <a:lstStyle/>
          <a:p>
            <a:pPr indent="0" marL="0">
              <a:buNone/>
            </a:pPr>
            <a:r>
              <a:rPr lang="en-US" sz="2600" b="1" dirty="0">
                <a:solidFill>
                  <a:srgbClr val="0F172A"/>
                </a:solidFill>
                <a:latin typeface="Cambria" pitchFamily="34" charset="0"/>
                <a:ea typeface="Cambria" pitchFamily="34" charset="-122"/>
                <a:cs typeface="Cambria" pitchFamily="34" charset="-120"/>
              </a:rPr>
              <a:t>Architecture, evidence &amp; fusion</a:t>
            </a:r>
            <a:endParaRPr lang="en-US" sz="2600" dirty="0"/>
          </a:p>
        </p:txBody>
      </p:sp>
      <p:sp>
        <p:nvSpPr>
          <p:cNvPr id="4" name="Shape 2"/>
          <p:cNvSpPr/>
          <p:nvPr/>
        </p:nvSpPr>
        <p:spPr>
          <a:xfrm>
            <a:off x="594360" y="1572768"/>
            <a:ext cx="5303520" cy="2194560"/>
          </a:xfrm>
          <a:prstGeom prst="roundRect">
            <a:avLst>
              <a:gd name="adj" fmla="val 2917"/>
            </a:avLst>
          </a:prstGeom>
          <a:solidFill>
            <a:srgbClr val="EEF6F6"/>
          </a:solidFill>
          <a:ln/>
          <a:effectLst>
            <a:outerShdw sx="100000" sy="100000" kx="0" ky="0" algn="bl" rotWithShape="0" blurRad="114300" dist="38100" dir="5400000">
              <a:srgbClr val="0B3B45">
                <a:alpha val="14000"/>
              </a:srgbClr>
            </a:outerShdw>
          </a:effectLst>
        </p:spPr>
      </p:sp>
      <p:sp>
        <p:nvSpPr>
          <p:cNvPr id="5" name="Text 3"/>
          <p:cNvSpPr/>
          <p:nvPr/>
        </p:nvSpPr>
        <p:spPr>
          <a:xfrm>
            <a:off x="822960" y="1737360"/>
            <a:ext cx="4846320" cy="365760"/>
          </a:xfrm>
          <a:prstGeom prst="rect">
            <a:avLst/>
          </a:prstGeom>
          <a:noFill/>
          <a:ln/>
        </p:spPr>
        <p:txBody>
          <a:bodyPr wrap="square" lIns="0" tIns="0" rIns="0" bIns="0" rtlCol="0" anchor="ctr"/>
          <a:lstStyle/>
          <a:p>
            <a:pPr indent="0" marL="0">
              <a:buNone/>
            </a:pPr>
            <a:r>
              <a:rPr lang="en-US" sz="1500" b="1" dirty="0">
                <a:solidFill>
                  <a:srgbClr val="0F172A"/>
                </a:solidFill>
                <a:latin typeface="Cambria" pitchFamily="34" charset="0"/>
                <a:ea typeface="Cambria" pitchFamily="34" charset="-122"/>
                <a:cs typeface="Cambria" pitchFamily="34" charset="-120"/>
              </a:rPr>
              <a:t>Attention-MIL</a:t>
            </a:r>
            <a:pPr indent="0" marL="0">
              <a:buNone/>
            </a:pPr>
            <a:r>
              <a:rPr lang="en-US" sz="1500" i="1" dirty="0">
                <a:solidFill>
                  <a:srgbClr val="0D7D87"/>
                </a:solidFill>
                <a:latin typeface="Cambria" pitchFamily="34" charset="0"/>
                <a:ea typeface="Cambria" pitchFamily="34" charset="-122"/>
                <a:cs typeface="Cambria" pitchFamily="34" charset="-120"/>
              </a:rPr>
              <a:t>   best single model</a:t>
            </a:r>
            <a:endParaRPr lang="en-US" sz="1500" dirty="0"/>
          </a:p>
        </p:txBody>
      </p:sp>
      <p:sp>
        <p:nvSpPr>
          <p:cNvPr id="6" name="Text 4"/>
          <p:cNvSpPr/>
          <p:nvPr/>
        </p:nvSpPr>
        <p:spPr>
          <a:xfrm>
            <a:off x="822960" y="2176272"/>
            <a:ext cx="4846320" cy="1417320"/>
          </a:xfrm>
          <a:prstGeom prst="rect">
            <a:avLst/>
          </a:prstGeom>
          <a:noFill/>
          <a:ln/>
        </p:spPr>
        <p:txBody>
          <a:bodyPr wrap="square" lIns="0" tIns="0" rIns="0" bIns="0" rtlCol="0" anchor="t"/>
          <a:lstStyle/>
          <a:p>
            <a:pPr indent="0" marL="0">
              <a:lnSpc>
                <a:spcPct val="104000"/>
              </a:lnSpc>
              <a:buNone/>
            </a:pPr>
            <a:r>
              <a:rPr lang="en-US" sz="1200" dirty="0">
                <a:solidFill>
                  <a:srgbClr val="0F172A"/>
                </a:solidFill>
                <a:latin typeface="Calibri" pitchFamily="34" charset="0"/>
                <a:ea typeface="Calibri" pitchFamily="34" charset="-122"/>
                <a:cs typeface="Calibri" pitchFamily="34" charset="-120"/>
              </a:rPr>
              <a:t>Encodes each retrieved window separately, then gated attention learns weights (summing to 1) over them → one ‘bag’ embedding → CORN head. The weights double as an explanation: which window drove the score.</a:t>
            </a:r>
            <a:endParaRPr lang="en-US" sz="1200" dirty="0"/>
          </a:p>
        </p:txBody>
      </p:sp>
      <p:sp>
        <p:nvSpPr>
          <p:cNvPr id="7" name="Shape 5"/>
          <p:cNvSpPr/>
          <p:nvPr/>
        </p:nvSpPr>
        <p:spPr>
          <a:xfrm>
            <a:off x="6263640" y="1572768"/>
            <a:ext cx="5303520" cy="2194560"/>
          </a:xfrm>
          <a:prstGeom prst="roundRect">
            <a:avLst>
              <a:gd name="adj" fmla="val 2917"/>
            </a:avLst>
          </a:prstGeom>
          <a:solidFill>
            <a:srgbClr val="EEF6F6"/>
          </a:solidFill>
          <a:ln/>
          <a:effectLst>
            <a:outerShdw sx="100000" sy="100000" kx="0" ky="0" algn="bl" rotWithShape="0" blurRad="114300" dist="38100" dir="5400000">
              <a:srgbClr val="0B3B45">
                <a:alpha val="14000"/>
              </a:srgbClr>
            </a:outerShdw>
          </a:effectLst>
        </p:spPr>
      </p:sp>
      <p:sp>
        <p:nvSpPr>
          <p:cNvPr id="8" name="Text 6"/>
          <p:cNvSpPr/>
          <p:nvPr/>
        </p:nvSpPr>
        <p:spPr>
          <a:xfrm>
            <a:off x="6492240" y="1737360"/>
            <a:ext cx="4846320" cy="365760"/>
          </a:xfrm>
          <a:prstGeom prst="rect">
            <a:avLst/>
          </a:prstGeom>
          <a:noFill/>
          <a:ln/>
        </p:spPr>
        <p:txBody>
          <a:bodyPr wrap="square" lIns="0" tIns="0" rIns="0" bIns="0" rtlCol="0" anchor="ctr"/>
          <a:lstStyle/>
          <a:p>
            <a:pPr indent="0" marL="0">
              <a:buNone/>
            </a:pPr>
            <a:r>
              <a:rPr lang="en-US" sz="1500" b="1" dirty="0">
                <a:solidFill>
                  <a:srgbClr val="0F172A"/>
                </a:solidFill>
                <a:latin typeface="Cambria" pitchFamily="34" charset="0"/>
                <a:ea typeface="Cambria" pitchFamily="34" charset="-122"/>
                <a:cs typeface="Cambria" pitchFamily="34" charset="-120"/>
              </a:rPr>
              <a:t>Cross-encoder rerank</a:t>
            </a:r>
            <a:pPr indent="0" marL="0">
              <a:buNone/>
            </a:pPr>
            <a:r>
              <a:rPr lang="en-US" sz="1500" i="1" dirty="0">
                <a:solidFill>
                  <a:srgbClr val="0D7D87"/>
                </a:solidFill>
                <a:latin typeface="Cambria" pitchFamily="34" charset="0"/>
                <a:ea typeface="Cambria" pitchFamily="34" charset="-122"/>
                <a:cs typeface="Cambria" pitchFamily="34" charset="-120"/>
              </a:rPr>
              <a:t>   sharper evidence</a:t>
            </a:r>
            <a:endParaRPr lang="en-US" sz="1500" dirty="0"/>
          </a:p>
        </p:txBody>
      </p:sp>
      <p:sp>
        <p:nvSpPr>
          <p:cNvPr id="9" name="Text 7"/>
          <p:cNvSpPr/>
          <p:nvPr/>
        </p:nvSpPr>
        <p:spPr>
          <a:xfrm>
            <a:off x="6492240" y="2176272"/>
            <a:ext cx="4846320" cy="1417320"/>
          </a:xfrm>
          <a:prstGeom prst="rect">
            <a:avLst/>
          </a:prstGeom>
          <a:noFill/>
          <a:ln/>
        </p:spPr>
        <p:txBody>
          <a:bodyPr wrap="square" lIns="0" tIns="0" rIns="0" bIns="0" rtlCol="0" anchor="t"/>
          <a:lstStyle/>
          <a:p>
            <a:pPr indent="0" marL="0">
              <a:lnSpc>
                <a:spcPct val="104000"/>
              </a:lnSpc>
              <a:buNone/>
            </a:pPr>
            <a:r>
              <a:rPr lang="en-US" sz="1200" dirty="0">
                <a:solidFill>
                  <a:srgbClr val="0F172A"/>
                </a:solidFill>
                <a:latin typeface="Calibri" pitchFamily="34" charset="0"/>
                <a:ea typeface="Calibri" pitchFamily="34" charset="-122"/>
                <a:cs typeface="Calibri" pitchFamily="34" charset="-120"/>
              </a:rPr>
              <a:t>A MiniLM cross-encoder re-scores all ~90 transcript windows against the symptom question and keeps the top-5 most diagnostic — in case the first retriever missed the telling snippet.</a:t>
            </a:r>
            <a:endParaRPr lang="en-US" sz="1200" dirty="0"/>
          </a:p>
        </p:txBody>
      </p:sp>
      <p:sp>
        <p:nvSpPr>
          <p:cNvPr id="10" name="Shape 8"/>
          <p:cNvSpPr/>
          <p:nvPr/>
        </p:nvSpPr>
        <p:spPr>
          <a:xfrm>
            <a:off x="594360" y="4059936"/>
            <a:ext cx="5303520" cy="2194560"/>
          </a:xfrm>
          <a:prstGeom prst="roundRect">
            <a:avLst>
              <a:gd name="adj" fmla="val 2917"/>
            </a:avLst>
          </a:prstGeom>
          <a:solidFill>
            <a:srgbClr val="EEF6F6"/>
          </a:solidFill>
          <a:ln/>
          <a:effectLst>
            <a:outerShdw sx="100000" sy="100000" kx="0" ky="0" algn="bl" rotWithShape="0" blurRad="114300" dist="38100" dir="5400000">
              <a:srgbClr val="0B3B45">
                <a:alpha val="14000"/>
              </a:srgbClr>
            </a:outerShdw>
          </a:effectLst>
        </p:spPr>
      </p:sp>
      <p:sp>
        <p:nvSpPr>
          <p:cNvPr id="11" name="Text 9"/>
          <p:cNvSpPr/>
          <p:nvPr/>
        </p:nvSpPr>
        <p:spPr>
          <a:xfrm>
            <a:off x="822960" y="4224528"/>
            <a:ext cx="4846320" cy="365760"/>
          </a:xfrm>
          <a:prstGeom prst="rect">
            <a:avLst/>
          </a:prstGeom>
          <a:noFill/>
          <a:ln/>
        </p:spPr>
        <p:txBody>
          <a:bodyPr wrap="square" lIns="0" tIns="0" rIns="0" bIns="0" rtlCol="0" anchor="ctr"/>
          <a:lstStyle/>
          <a:p>
            <a:pPr indent="0" marL="0">
              <a:buNone/>
            </a:pPr>
            <a:r>
              <a:rPr lang="en-US" sz="1500" b="1" dirty="0">
                <a:solidFill>
                  <a:srgbClr val="0F172A"/>
                </a:solidFill>
                <a:latin typeface="Cambria" pitchFamily="34" charset="0"/>
                <a:ea typeface="Cambria" pitchFamily="34" charset="-122"/>
                <a:cs typeface="Cambria" pitchFamily="34" charset="-120"/>
              </a:rPr>
              <a:t>Calibration</a:t>
            </a:r>
            <a:pPr indent="0" marL="0">
              <a:buNone/>
            </a:pPr>
            <a:r>
              <a:rPr lang="en-US" sz="1500" i="1" dirty="0">
                <a:solidFill>
                  <a:srgbClr val="0D7D87"/>
                </a:solidFill>
                <a:latin typeface="Cambria" pitchFamily="34" charset="0"/>
                <a:ea typeface="Cambria" pitchFamily="34" charset="-122"/>
                <a:cs typeface="Cambria" pitchFamily="34" charset="-120"/>
              </a:rPr>
              <a:t>   trust the confidence</a:t>
            </a:r>
            <a:endParaRPr lang="en-US" sz="1500" dirty="0"/>
          </a:p>
        </p:txBody>
      </p:sp>
      <p:sp>
        <p:nvSpPr>
          <p:cNvPr id="12" name="Text 10"/>
          <p:cNvSpPr/>
          <p:nvPr/>
        </p:nvSpPr>
        <p:spPr>
          <a:xfrm>
            <a:off x="822960" y="4663440"/>
            <a:ext cx="4846320" cy="1417320"/>
          </a:xfrm>
          <a:prstGeom prst="rect">
            <a:avLst/>
          </a:prstGeom>
          <a:noFill/>
          <a:ln/>
        </p:spPr>
        <p:txBody>
          <a:bodyPr wrap="square" lIns="0" tIns="0" rIns="0" bIns="0" rtlCol="0" anchor="t"/>
          <a:lstStyle/>
          <a:p>
            <a:pPr indent="0" marL="0">
              <a:lnSpc>
                <a:spcPct val="104000"/>
              </a:lnSpc>
              <a:buNone/>
            </a:pPr>
            <a:r>
              <a:rPr lang="en-US" sz="1200" dirty="0">
                <a:solidFill>
                  <a:srgbClr val="0F172A"/>
                </a:solidFill>
                <a:latin typeface="Calibri" pitchFamily="34" charset="0"/>
                <a:ea typeface="Calibri" pitchFamily="34" charset="-122"/>
                <a:cs typeface="Calibri" pitchFamily="34" charset="-120"/>
              </a:rPr>
              <a:t>Divides the logits by one learned ‘temperature’ so predicted confidence matches real accuracy (error 0.40 → 0.08). A prerequisite for combining probabilities.</a:t>
            </a:r>
            <a:endParaRPr lang="en-US" sz="1200" dirty="0"/>
          </a:p>
        </p:txBody>
      </p:sp>
      <p:sp>
        <p:nvSpPr>
          <p:cNvPr id="13" name="Shape 11"/>
          <p:cNvSpPr/>
          <p:nvPr/>
        </p:nvSpPr>
        <p:spPr>
          <a:xfrm>
            <a:off x="6263640" y="4059936"/>
            <a:ext cx="5303520" cy="2194560"/>
          </a:xfrm>
          <a:prstGeom prst="roundRect">
            <a:avLst>
              <a:gd name="adj" fmla="val 2917"/>
            </a:avLst>
          </a:prstGeom>
          <a:solidFill>
            <a:srgbClr val="EEF6F6"/>
          </a:solidFill>
          <a:ln/>
          <a:effectLst>
            <a:outerShdw sx="100000" sy="100000" kx="0" ky="0" algn="bl" rotWithShape="0" blurRad="114300" dist="38100" dir="5400000">
              <a:srgbClr val="0B3B45">
                <a:alpha val="14000"/>
              </a:srgbClr>
            </a:outerShdw>
          </a:effectLst>
        </p:spPr>
      </p:sp>
      <p:sp>
        <p:nvSpPr>
          <p:cNvPr id="14" name="Text 12"/>
          <p:cNvSpPr/>
          <p:nvPr/>
        </p:nvSpPr>
        <p:spPr>
          <a:xfrm>
            <a:off x="6492240" y="4224528"/>
            <a:ext cx="4846320" cy="365760"/>
          </a:xfrm>
          <a:prstGeom prst="rect">
            <a:avLst/>
          </a:prstGeom>
          <a:noFill/>
          <a:ln/>
        </p:spPr>
        <p:txBody>
          <a:bodyPr wrap="square" lIns="0" tIns="0" rIns="0" bIns="0" rtlCol="0" anchor="ctr"/>
          <a:lstStyle/>
          <a:p>
            <a:pPr indent="0" marL="0">
              <a:buNone/>
            </a:pPr>
            <a:r>
              <a:rPr lang="en-US" sz="1500" b="1" dirty="0">
                <a:solidFill>
                  <a:srgbClr val="0F172A"/>
                </a:solidFill>
                <a:latin typeface="Cambria" pitchFamily="34" charset="0"/>
                <a:ea typeface="Cambria" pitchFamily="34" charset="-122"/>
                <a:cs typeface="Cambria" pitchFamily="34" charset="-120"/>
              </a:rPr>
              <a:t>Fusion: condition, don’t blend</a:t>
            </a:r>
            <a:pPr indent="0" marL="0">
              <a:buNone/>
            </a:pPr>
            <a:r>
              <a:rPr lang="en-US" sz="1500" i="1" dirty="0">
                <a:solidFill>
                  <a:srgbClr val="0D7D87"/>
                </a:solidFill>
                <a:latin typeface="Cambria" pitchFamily="34" charset="0"/>
                <a:ea typeface="Cambria" pitchFamily="34" charset="-122"/>
                <a:cs typeface="Cambria" pitchFamily="34" charset="-120"/>
              </a:rPr>
              <a:t>   best system</a:t>
            </a:r>
            <a:endParaRPr lang="en-US" sz="1500" dirty="0"/>
          </a:p>
        </p:txBody>
      </p:sp>
      <p:sp>
        <p:nvSpPr>
          <p:cNvPr id="15" name="Text 13"/>
          <p:cNvSpPr/>
          <p:nvPr/>
        </p:nvSpPr>
        <p:spPr>
          <a:xfrm>
            <a:off x="6492240" y="4663440"/>
            <a:ext cx="4846320" cy="1417320"/>
          </a:xfrm>
          <a:prstGeom prst="rect">
            <a:avLst/>
          </a:prstGeom>
          <a:noFill/>
          <a:ln/>
        </p:spPr>
        <p:txBody>
          <a:bodyPr wrap="square" lIns="0" tIns="0" rIns="0" bIns="0" rtlCol="0" anchor="t"/>
          <a:lstStyle/>
          <a:p>
            <a:pPr indent="0" marL="0">
              <a:lnSpc>
                <a:spcPct val="104000"/>
              </a:lnSpc>
              <a:buNone/>
            </a:pPr>
            <a:r>
              <a:rPr lang="en-US" sz="1200" dirty="0">
                <a:solidFill>
                  <a:srgbClr val="0F172A"/>
                </a:solidFill>
                <a:latin typeface="Calibri" pitchFamily="34" charset="0"/>
                <a:ea typeface="Calibri" pitchFamily="34" charset="-122"/>
                <a:cs typeface="Calibri" pitchFamily="34" charset="-120"/>
              </a:rPr>
              <a:t>Severity-routing (use the LLM’s call when it predicts severe) beats both parents; a learned stacker conditions on the symptom; a flat probability average gains nothing.</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PHQ-8 Item Severity — Insights &amp; Experiments</dc:title>
  <dc:subject>PptxGenJS Presentation</dc:subject>
  <dc:creator>MentalHealthSympAI</dc:creator>
  <cp:lastModifiedBy>MentalHealthSympAI</cp:lastModifiedBy>
  <cp:revision>1</cp:revision>
  <dcterms:created xsi:type="dcterms:W3CDTF">2026-06-28T05:53:59Z</dcterms:created>
  <dcterms:modified xsi:type="dcterms:W3CDTF">2026-06-28T05:53:59Z</dcterms:modified>
</cp:coreProperties>
</file>